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72" r:id="rId5"/>
    <p:sldId id="261" r:id="rId6"/>
    <p:sldId id="271" r:id="rId7"/>
    <p:sldId id="263" r:id="rId8"/>
    <p:sldId id="274" r:id="rId9"/>
    <p:sldId id="269" r:id="rId10"/>
    <p:sldId id="275" r:id="rId11"/>
    <p:sldId id="270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66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85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743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255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0767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MohamedSaeed130/Telecom-Egypt-mini-chatbot" TargetMode="External"/><Relationship Id="rId3" Type="http://schemas.openxmlformats.org/officeDocument/2006/relationships/image" Target="../media/image1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mohamedsaidabusamaha@gmail.com" TargetMode="External"/><Relationship Id="rId5" Type="http://schemas.openxmlformats.org/officeDocument/2006/relationships/image" Target="../media/image31.png"/><Relationship Id="rId10" Type="http://schemas.openxmlformats.org/officeDocument/2006/relationships/hyperlink" Target="https://drive.google.com/file/d/17S9ZSUy5_YWJ3f8Ag6FAwryOKCMahAs1/view" TargetMode="External"/><Relationship Id="rId4" Type="http://schemas.openxmlformats.org/officeDocument/2006/relationships/image" Target="../media/image30.png"/><Relationship Id="rId9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684544"/>
            <a:ext cx="4000500" cy="144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FFFF"/>
                </a:solidFill>
              </a:rPr>
              <a:t>Telecom Egypt Intelligent Assistant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571500" y="2267583"/>
            <a:ext cx="2994474" cy="272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FF6B35"/>
                </a:solidFill>
              </a:rPr>
              <a:t>Production-Ready RAG Chatbot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71500" y="2865872"/>
            <a:ext cx="1071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6B35"/>
                </a:solidFill>
              </a:rPr>
              <a:t>✓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750094" y="2865872"/>
            <a:ext cx="3101490" cy="146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dirty="0">
                <a:solidFill>
                  <a:srgbClr val="E0E0E0"/>
                </a:solidFill>
              </a:rPr>
              <a:t>Powered by official website (te.eg) + user uploads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3106973"/>
            <a:ext cx="1071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6B35"/>
                </a:solidFill>
              </a:rPr>
              <a:t>✓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750094" y="3106973"/>
            <a:ext cx="3315972" cy="146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dirty="0">
                <a:solidFill>
                  <a:srgbClr val="E0E0E0"/>
                </a:solidFill>
              </a:rPr>
              <a:t>Multilingual support: Arabic, Egyptian dialect, English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1500" y="3348075"/>
            <a:ext cx="1071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6B35"/>
                </a:solidFill>
              </a:rPr>
              <a:t>✓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750094" y="3348075"/>
            <a:ext cx="3174331" cy="146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dirty="0">
                <a:solidFill>
                  <a:srgbClr val="E0E0E0"/>
                </a:solidFill>
              </a:rPr>
              <a:t>Grounded answers with automatic source citations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1500" y="3589176"/>
            <a:ext cx="65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571500" y="4187465"/>
            <a:ext cx="4000500" cy="133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b="1" dirty="0">
                <a:solidFill>
                  <a:srgbClr val="FF6B35"/>
                </a:solidFill>
              </a:rPr>
              <a:t>Presenter:</a:t>
            </a:r>
            <a:r>
              <a:rPr lang="en-US" sz="1000" dirty="0">
                <a:solidFill>
                  <a:srgbClr val="E0E0E0"/>
                </a:solidFill>
              </a:rPr>
              <a:t> </a:t>
            </a:r>
            <a:r>
              <a:rPr lang="en-US" sz="1400" dirty="0">
                <a:solidFill>
                  <a:srgbClr val="E0E0E0"/>
                </a:solidFill>
              </a:rPr>
              <a:t>Mohamed Saeed Abu Samaha</a:t>
            </a:r>
            <a:endParaRPr lang="en-US" sz="14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6469" y="2153813"/>
            <a:ext cx="1071563" cy="8572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7A1DD09-F49E-43D9-B242-D6046FE562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920" y="3577119"/>
            <a:ext cx="476316" cy="204940"/>
          </a:xfrm>
          <a:prstGeom prst="rect">
            <a:avLst/>
          </a:prstGeom>
        </p:spPr>
      </p:pic>
      <p:pic>
        <p:nvPicPr>
          <p:cNvPr id="2" name="Image 4" descr="preencoded.png">
            <a:extLst>
              <a:ext uri="{FF2B5EF4-FFF2-40B4-BE49-F238E27FC236}">
                <a16:creationId xmlns:a16="http://schemas.microsoft.com/office/drawing/2014/main" id="{361C4D82-8810-34F6-4BF7-28969BB6D7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0" y="1111343"/>
            <a:ext cx="2857500" cy="28575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64207" y="428625"/>
            <a:ext cx="281555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6B35"/>
                </a:solidFill>
              </a:rPr>
              <a:t>Problem &amp; Goals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1071563" y="1180505"/>
            <a:ext cx="3357563" cy="343556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FFFFFF"/>
                </a:solidFill>
              </a:rPr>
              <a:t>The Problem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1071563" y="1714500"/>
            <a:ext cx="3357563" cy="975457"/>
          </a:xfrm>
          <a:prstGeom prst="rect">
            <a:avLst/>
          </a:prstGeom>
          <a:solidFill>
            <a:srgbClr val="FF6B35">
              <a:alpha val="1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071563" y="1714500"/>
            <a:ext cx="28575" cy="975457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4"/>
          <p:cNvSpPr/>
          <p:nvPr/>
        </p:nvSpPr>
        <p:spPr>
          <a:xfrm>
            <a:off x="1214438" y="1857375"/>
            <a:ext cx="307181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1000s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1214438" y="2227064"/>
            <a:ext cx="3071813" cy="339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E0E0E0"/>
                </a:solidFill>
              </a:rPr>
              <a:t>Daily customer inquiries about plans, billing, and technical support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071563" y="2832832"/>
            <a:ext cx="3357563" cy="815448"/>
          </a:xfrm>
          <a:prstGeom prst="rect">
            <a:avLst/>
          </a:prstGeom>
          <a:solidFill>
            <a:srgbClr val="FF6B35">
              <a:alpha val="1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071563" y="2832832"/>
            <a:ext cx="28575" cy="8154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8"/>
          <p:cNvSpPr/>
          <p:nvPr/>
        </p:nvSpPr>
        <p:spPr>
          <a:xfrm>
            <a:off x="1214438" y="2975707"/>
            <a:ext cx="65" cy="2657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endParaRPr lang="en-US" sz="1602" dirty="0"/>
          </a:p>
        </p:txBody>
      </p:sp>
      <p:sp>
        <p:nvSpPr>
          <p:cNvPr id="12" name="Text 9"/>
          <p:cNvSpPr/>
          <p:nvPr/>
        </p:nvSpPr>
        <p:spPr>
          <a:xfrm>
            <a:off x="1214438" y="3073843"/>
            <a:ext cx="2957513" cy="339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E0E0E0"/>
                </a:solidFill>
              </a:rPr>
              <a:t>Manual responses a time-consuming and inconsistent</a:t>
            </a:r>
          </a:p>
        </p:txBody>
      </p:sp>
      <p:sp>
        <p:nvSpPr>
          <p:cNvPr id="13" name="Shape 10"/>
          <p:cNvSpPr/>
          <p:nvPr/>
        </p:nvSpPr>
        <p:spPr>
          <a:xfrm>
            <a:off x="1071563" y="3788749"/>
            <a:ext cx="3357563" cy="815448"/>
          </a:xfrm>
          <a:prstGeom prst="rect">
            <a:avLst/>
          </a:prstGeom>
          <a:solidFill>
            <a:srgbClr val="FF6B35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071563" y="3791155"/>
            <a:ext cx="28575" cy="8154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3"/>
          <p:cNvSpPr/>
          <p:nvPr/>
        </p:nvSpPr>
        <p:spPr>
          <a:xfrm>
            <a:off x="1214438" y="4029760"/>
            <a:ext cx="2826067" cy="339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E0E0E0"/>
                </a:solidFill>
              </a:rPr>
              <a:t>Customers speak Arabic, Egyptian dialect, and English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714875" y="1180505"/>
            <a:ext cx="3357563" cy="343556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FFFFFF"/>
                </a:solidFill>
              </a:rPr>
              <a:t>Our Goals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714875" y="1714500"/>
            <a:ext cx="285750" cy="285750"/>
          </a:xfrm>
          <a:prstGeom prst="ellipse">
            <a:avLst/>
          </a:prstGeom>
          <a:solidFill>
            <a:srgbClr val="FF6B35">
              <a:alpha val="20000"/>
            </a:srgbClr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456" y="1793081"/>
            <a:ext cx="128588" cy="1285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044437" y="1714500"/>
            <a:ext cx="3837589" cy="241156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E0E0E0"/>
                </a:solidFill>
              </a:rPr>
              <a:t>Answer questions grounded on official te.eg website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714875" y="2128838"/>
            <a:ext cx="285750" cy="285750"/>
          </a:xfrm>
          <a:prstGeom prst="ellipse">
            <a:avLst/>
          </a:prstGeom>
          <a:solidFill>
            <a:srgbClr val="FF6B35">
              <a:alpha val="20000"/>
            </a:srgbClr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456" y="2207419"/>
            <a:ext cx="128588" cy="1285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44437" y="2128838"/>
            <a:ext cx="4075218" cy="241156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E0E0E0"/>
                </a:solidFill>
              </a:rPr>
              <a:t>Support Arabic, Egyptian dialect, and English seamlessly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4714875" y="2543175"/>
            <a:ext cx="285750" cy="285750"/>
          </a:xfrm>
          <a:prstGeom prst="ellipse">
            <a:avLst/>
          </a:prstGeom>
          <a:solidFill>
            <a:srgbClr val="FF6B35">
              <a:alpha val="20000"/>
            </a:srgbClr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530" y="2621756"/>
            <a:ext cx="96441" cy="1285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044437" y="2543175"/>
            <a:ext cx="3706143" cy="241156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E0E0E0"/>
                </a:solidFill>
              </a:rPr>
              <a:t>Allow file uploads (PDF, DOCX, TXT, HTML, Images)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4714875" y="2957513"/>
            <a:ext cx="285750" cy="285750"/>
          </a:xfrm>
          <a:prstGeom prst="ellipse">
            <a:avLst/>
          </a:prstGeom>
          <a:solidFill>
            <a:srgbClr val="FF6B35">
              <a:alpha val="20000"/>
            </a:srgbClr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3036094"/>
            <a:ext cx="114300" cy="1285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044437" y="2957513"/>
            <a:ext cx="2856551" cy="241156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E0E0E0"/>
                </a:solidFill>
              </a:rPr>
              <a:t>Provide source citations for all answers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4714875" y="3371850"/>
            <a:ext cx="285750" cy="285750"/>
          </a:xfrm>
          <a:prstGeom prst="ellipse">
            <a:avLst/>
          </a:prstGeom>
          <a:solidFill>
            <a:srgbClr val="FF6B35">
              <a:alpha val="20000"/>
            </a:srgbClr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3456" y="3450431"/>
            <a:ext cx="128588" cy="1285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044437" y="3371850"/>
            <a:ext cx="3151312" cy="241156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E0E0E0"/>
                </a:solidFill>
              </a:rPr>
              <a:t>Deliver professional, user-friendly interface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549228" y="131445"/>
            <a:ext cx="4045539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6B35"/>
                </a:solidFill>
              </a:rPr>
              <a:t>High-Level Architecture</a:t>
            </a:r>
            <a:endParaRPr lang="en-US" sz="2436" dirty="0"/>
          </a:p>
        </p:txBody>
      </p:sp>
      <p:pic>
        <p:nvPicPr>
          <p:cNvPr id="6" name="Image 5" descr="preencoded.png">
            <a:extLst>
              <a:ext uri="{FF2B5EF4-FFF2-40B4-BE49-F238E27FC236}">
                <a16:creationId xmlns:a16="http://schemas.microsoft.com/office/drawing/2014/main" id="{D9BE0217-9B31-DEEA-3A17-7F82C785B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34" y="597575"/>
            <a:ext cx="7499729" cy="42910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73293" y="428625"/>
            <a:ext cx="1797416" cy="390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6B35"/>
                </a:solidFill>
              </a:rPr>
              <a:t>Data Pipeline </a:t>
            </a:r>
            <a:endParaRPr lang="en-US" sz="2436" dirty="0"/>
          </a:p>
        </p:txBody>
      </p:sp>
      <p:sp>
        <p:nvSpPr>
          <p:cNvPr id="60" name="Shape 54"/>
          <p:cNvSpPr/>
          <p:nvPr/>
        </p:nvSpPr>
        <p:spPr>
          <a:xfrm>
            <a:off x="290298" y="1373298"/>
            <a:ext cx="3284917" cy="1331802"/>
          </a:xfrm>
          <a:prstGeom prst="rect">
            <a:avLst/>
          </a:prstGeom>
          <a:solidFill>
            <a:srgbClr val="FF6B35">
              <a:alpha val="5000"/>
            </a:srgbClr>
          </a:solidFill>
          <a:ln/>
        </p:spPr>
      </p:sp>
      <p:sp>
        <p:nvSpPr>
          <p:cNvPr id="61" name="Shape 55"/>
          <p:cNvSpPr/>
          <p:nvPr/>
        </p:nvSpPr>
        <p:spPr>
          <a:xfrm flipV="1">
            <a:off x="290298" y="1341208"/>
            <a:ext cx="3284917" cy="45719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2" name="Text 56"/>
          <p:cNvSpPr/>
          <p:nvPr/>
        </p:nvSpPr>
        <p:spPr>
          <a:xfrm>
            <a:off x="1311711" y="1515075"/>
            <a:ext cx="1237519" cy="1406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600" b="1" dirty="0">
                <a:solidFill>
                  <a:srgbClr val="FF6B35"/>
                </a:solidFill>
              </a:rPr>
              <a:t>Data Ingestion</a:t>
            </a:r>
            <a:endParaRPr lang="en-US" sz="1600" dirty="0"/>
          </a:p>
        </p:txBody>
      </p:sp>
      <p:sp>
        <p:nvSpPr>
          <p:cNvPr id="63" name="Text 57"/>
          <p:cNvSpPr/>
          <p:nvPr/>
        </p:nvSpPr>
        <p:spPr>
          <a:xfrm>
            <a:off x="366498" y="1656366"/>
            <a:ext cx="3208716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F4759C-7855-0372-6167-55F174F5CB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591" t="8791" r="19709" b="22112"/>
          <a:stretch/>
        </p:blipFill>
        <p:spPr>
          <a:xfrm>
            <a:off x="3977642" y="1298396"/>
            <a:ext cx="5113018" cy="31971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B28CEE-30BF-1886-52F8-5BA11204413B}"/>
              </a:ext>
            </a:extLst>
          </p:cNvPr>
          <p:cNvSpPr txBox="1"/>
          <p:nvPr/>
        </p:nvSpPr>
        <p:spPr>
          <a:xfrm>
            <a:off x="191238" y="1606620"/>
            <a:ext cx="3512082" cy="102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Web Scraper: Custom Scrapy spider for te.eg.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File Processor: Handles PDF/DOCX/Images.</a:t>
            </a:r>
          </a:p>
        </p:txBody>
      </p:sp>
      <p:sp>
        <p:nvSpPr>
          <p:cNvPr id="4" name="Shape 54">
            <a:extLst>
              <a:ext uri="{FF2B5EF4-FFF2-40B4-BE49-F238E27FC236}">
                <a16:creationId xmlns:a16="http://schemas.microsoft.com/office/drawing/2014/main" id="{94A4C4E9-A68A-839A-03C8-AB79EFA1AF9A}"/>
              </a:ext>
            </a:extLst>
          </p:cNvPr>
          <p:cNvSpPr/>
          <p:nvPr/>
        </p:nvSpPr>
        <p:spPr>
          <a:xfrm>
            <a:off x="290298" y="3170089"/>
            <a:ext cx="3284917" cy="1331802"/>
          </a:xfrm>
          <a:prstGeom prst="rect">
            <a:avLst/>
          </a:prstGeom>
          <a:solidFill>
            <a:srgbClr val="FF6B35">
              <a:alpha val="5000"/>
            </a:srgbClr>
          </a:solidFill>
          <a:ln/>
        </p:spPr>
      </p:sp>
      <p:sp>
        <p:nvSpPr>
          <p:cNvPr id="5" name="Shape 55">
            <a:extLst>
              <a:ext uri="{FF2B5EF4-FFF2-40B4-BE49-F238E27FC236}">
                <a16:creationId xmlns:a16="http://schemas.microsoft.com/office/drawing/2014/main" id="{03A81593-178D-791C-5715-A2462BE1D6B1}"/>
              </a:ext>
            </a:extLst>
          </p:cNvPr>
          <p:cNvSpPr/>
          <p:nvPr/>
        </p:nvSpPr>
        <p:spPr>
          <a:xfrm flipV="1">
            <a:off x="290298" y="3137999"/>
            <a:ext cx="3284917" cy="45719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6">
            <a:extLst>
              <a:ext uri="{FF2B5EF4-FFF2-40B4-BE49-F238E27FC236}">
                <a16:creationId xmlns:a16="http://schemas.microsoft.com/office/drawing/2014/main" id="{E65F5F60-6DB2-35D0-997D-1BDBDEA60DDE}"/>
              </a:ext>
            </a:extLst>
          </p:cNvPr>
          <p:cNvSpPr/>
          <p:nvPr/>
        </p:nvSpPr>
        <p:spPr>
          <a:xfrm>
            <a:off x="1508880" y="3311866"/>
            <a:ext cx="843180" cy="1406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600" b="1" dirty="0">
                <a:solidFill>
                  <a:srgbClr val="FF6B35"/>
                </a:solidFill>
              </a:rPr>
              <a:t>Chunking </a:t>
            </a:r>
            <a:endParaRPr lang="en-US" sz="1600" dirty="0"/>
          </a:p>
        </p:txBody>
      </p:sp>
      <p:sp>
        <p:nvSpPr>
          <p:cNvPr id="8" name="Text 57">
            <a:extLst>
              <a:ext uri="{FF2B5EF4-FFF2-40B4-BE49-F238E27FC236}">
                <a16:creationId xmlns:a16="http://schemas.microsoft.com/office/drawing/2014/main" id="{AEDC2F5E-5CFA-72CD-64A6-E6C2D8B8F616}"/>
              </a:ext>
            </a:extLst>
          </p:cNvPr>
          <p:cNvSpPr/>
          <p:nvPr/>
        </p:nvSpPr>
        <p:spPr>
          <a:xfrm>
            <a:off x="366498" y="3453157"/>
            <a:ext cx="3208716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1B4B5E-0555-562E-1698-F85A2E8991B1}"/>
              </a:ext>
            </a:extLst>
          </p:cNvPr>
          <p:cNvSpPr txBox="1"/>
          <p:nvPr/>
        </p:nvSpPr>
        <p:spPr>
          <a:xfrm>
            <a:off x="290298" y="3532524"/>
            <a:ext cx="3039642" cy="797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Recursive</a:t>
            </a:r>
            <a:r>
              <a:rPr lang="en-US" dirty="0">
                <a:effectLst/>
              </a:rPr>
              <a:t> </a:t>
            </a:r>
            <a:r>
              <a:rPr lang="en-US" sz="1400" dirty="0">
                <a:solidFill>
                  <a:schemeClr val="bg1"/>
                </a:solidFill>
              </a:rPr>
              <a:t>Chunking: 512-character chunks with overlap.</a:t>
            </a:r>
          </a:p>
        </p:txBody>
      </p:sp>
    </p:spTree>
    <p:extLst>
      <p:ext uri="{BB962C8B-B14F-4D97-AF65-F5344CB8AC3E}">
        <p14:creationId xmlns:p14="http://schemas.microsoft.com/office/powerpoint/2010/main" val="4152034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746479" y="428625"/>
            <a:ext cx="5651013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6B35"/>
                </a:solidFill>
              </a:rPr>
              <a:t>File Upload &amp; Processing Pipeline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928688" y="1180505"/>
            <a:ext cx="7286625" cy="499700"/>
          </a:xfrm>
          <a:prstGeom prst="rect">
            <a:avLst/>
          </a:prstGeom>
          <a:solidFill>
            <a:srgbClr val="FF6B35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928688" y="1180505"/>
            <a:ext cx="28575" cy="4997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Shape 3"/>
          <p:cNvSpPr/>
          <p:nvPr/>
        </p:nvSpPr>
        <p:spPr>
          <a:xfrm>
            <a:off x="1014413" y="1266230"/>
            <a:ext cx="300038" cy="300038"/>
          </a:xfrm>
          <a:prstGeom prst="rect">
            <a:avLst/>
          </a:prstGeom>
          <a:solidFill>
            <a:srgbClr val="FF6B35">
              <a:alpha val="20000"/>
            </a:srgbClr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134" y="1344811"/>
            <a:ext cx="178594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00175" y="1266230"/>
            <a:ext cx="2079095" cy="153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Step 1: Upload via Streamlit</a:t>
            </a:r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1400175" y="1464469"/>
            <a:ext cx="5614999" cy="136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dirty="0">
                <a:solidFill>
                  <a:srgbClr val="E0E0E0"/>
                </a:solidFill>
              </a:rPr>
              <a:t>User uploads file through Streamlit interface → stored in object storage or local filesystem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928688" y="1751642"/>
            <a:ext cx="7286625" cy="499700"/>
          </a:xfrm>
          <a:prstGeom prst="rect">
            <a:avLst/>
          </a:prstGeom>
          <a:solidFill>
            <a:srgbClr val="FF6B35">
              <a:alpha val="8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928688" y="1751642"/>
            <a:ext cx="28575" cy="4997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Shape 8"/>
          <p:cNvSpPr/>
          <p:nvPr/>
        </p:nvSpPr>
        <p:spPr>
          <a:xfrm>
            <a:off x="1014413" y="1837367"/>
            <a:ext cx="300038" cy="300038"/>
          </a:xfrm>
          <a:prstGeom prst="rect">
            <a:avLst/>
          </a:prstGeom>
          <a:solidFill>
            <a:srgbClr val="FF6B35">
              <a:alpha val="20000"/>
            </a:srgbClr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134" y="1915948"/>
            <a:ext cx="178594" cy="142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00175" y="1837367"/>
            <a:ext cx="2171813" cy="153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Step 2: Worker Processes File</a:t>
            </a:r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15" name="Text 10"/>
          <p:cNvSpPr/>
          <p:nvPr/>
        </p:nvSpPr>
        <p:spPr>
          <a:xfrm>
            <a:off x="1400175" y="2035606"/>
            <a:ext cx="3929024" cy="136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dirty="0">
                <a:solidFill>
                  <a:srgbClr val="E0E0E0"/>
                </a:solidFill>
              </a:rPr>
              <a:t>Background worker picks up file and begins processing pipeline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928688" y="2322779"/>
            <a:ext cx="7286625" cy="499700"/>
          </a:xfrm>
          <a:prstGeom prst="rect">
            <a:avLst/>
          </a:prstGeom>
          <a:solidFill>
            <a:srgbClr val="FF6B35">
              <a:alpha val="8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928688" y="2322779"/>
            <a:ext cx="28575" cy="4997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Shape 13"/>
          <p:cNvSpPr/>
          <p:nvPr/>
        </p:nvSpPr>
        <p:spPr>
          <a:xfrm>
            <a:off x="1014413" y="2408504"/>
            <a:ext cx="300038" cy="300038"/>
          </a:xfrm>
          <a:prstGeom prst="rect">
            <a:avLst/>
          </a:prstGeom>
          <a:solidFill>
            <a:srgbClr val="FF6B35">
              <a:alpha val="20000"/>
            </a:srgbClr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853" y="2487085"/>
            <a:ext cx="107156" cy="1428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00175" y="2408504"/>
            <a:ext cx="1965282" cy="153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Step 3: Parse Text Content</a:t>
            </a:r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21" name="Text 15"/>
          <p:cNvSpPr/>
          <p:nvPr/>
        </p:nvSpPr>
        <p:spPr>
          <a:xfrm>
            <a:off x="1400175" y="2606743"/>
            <a:ext cx="6158737" cy="136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dirty="0">
                <a:solidFill>
                  <a:srgbClr val="E0E0E0"/>
                </a:solidFill>
              </a:rPr>
              <a:t>Extract text using pdfplumber (PDF), python-docx (DOCX), HTML parser, or Tesseract OCR (images)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928688" y="2893916"/>
            <a:ext cx="7286625" cy="499700"/>
          </a:xfrm>
          <a:prstGeom prst="rect">
            <a:avLst/>
          </a:prstGeom>
          <a:solidFill>
            <a:srgbClr val="FF6B35">
              <a:alpha val="8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928688" y="2893916"/>
            <a:ext cx="28575" cy="4997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Shape 18"/>
          <p:cNvSpPr/>
          <p:nvPr/>
        </p:nvSpPr>
        <p:spPr>
          <a:xfrm>
            <a:off x="1014413" y="2979641"/>
            <a:ext cx="300038" cy="300038"/>
          </a:xfrm>
          <a:prstGeom prst="rect">
            <a:avLst/>
          </a:prstGeom>
          <a:solidFill>
            <a:srgbClr val="FF6B35">
              <a:alpha val="20000"/>
            </a:srgbClr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134" y="3058223"/>
            <a:ext cx="178594" cy="14287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00175" y="2979641"/>
            <a:ext cx="1681551" cy="153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Step 4: Normalize Text</a:t>
            </a:r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27" name="Text 20"/>
          <p:cNvSpPr/>
          <p:nvPr/>
        </p:nvSpPr>
        <p:spPr>
          <a:xfrm>
            <a:off x="1400175" y="3177880"/>
            <a:ext cx="4209486" cy="136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dirty="0">
                <a:solidFill>
                  <a:srgbClr val="E0E0E0"/>
                </a:solidFill>
              </a:rPr>
              <a:t>Clean whitespace, remove special characters, standardize encoding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928688" y="3465054"/>
            <a:ext cx="7286625" cy="499700"/>
          </a:xfrm>
          <a:prstGeom prst="rect">
            <a:avLst/>
          </a:prstGeom>
          <a:solidFill>
            <a:srgbClr val="FF6B35">
              <a:alpha val="8000"/>
            </a:srgbClr>
          </a:solidFill>
          <a:ln/>
        </p:spPr>
      </p:sp>
      <p:sp>
        <p:nvSpPr>
          <p:cNvPr id="29" name="Shape 22"/>
          <p:cNvSpPr/>
          <p:nvPr/>
        </p:nvSpPr>
        <p:spPr>
          <a:xfrm>
            <a:off x="928688" y="3465054"/>
            <a:ext cx="28575" cy="4997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0" name="Shape 23"/>
          <p:cNvSpPr/>
          <p:nvPr/>
        </p:nvSpPr>
        <p:spPr>
          <a:xfrm>
            <a:off x="1014413" y="3550779"/>
            <a:ext cx="300038" cy="300038"/>
          </a:xfrm>
          <a:prstGeom prst="rect">
            <a:avLst/>
          </a:prstGeom>
          <a:solidFill>
            <a:srgbClr val="FF6B35">
              <a:alpha val="20000"/>
            </a:srgbClr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5134" y="3629360"/>
            <a:ext cx="178594" cy="14287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400175" y="3550779"/>
            <a:ext cx="2931893" cy="153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Step 5: Language Detection &amp; Chunking</a:t>
            </a:r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33" name="Text 25"/>
          <p:cNvSpPr/>
          <p:nvPr/>
        </p:nvSpPr>
        <p:spPr>
          <a:xfrm>
            <a:off x="1400175" y="3749018"/>
            <a:ext cx="4901022" cy="136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dirty="0">
                <a:solidFill>
                  <a:srgbClr val="E0E0E0"/>
                </a:solidFill>
              </a:rPr>
              <a:t>Detect language (Arabic, English, Egyptian dialect) → pass to recursive chunker</a:t>
            </a:r>
            <a:endParaRPr lang="en-US" sz="1200" dirty="0"/>
          </a:p>
        </p:txBody>
      </p:sp>
      <p:sp>
        <p:nvSpPr>
          <p:cNvPr id="2" name="Shape 21">
            <a:extLst>
              <a:ext uri="{FF2B5EF4-FFF2-40B4-BE49-F238E27FC236}">
                <a16:creationId xmlns:a16="http://schemas.microsoft.com/office/drawing/2014/main" id="{76CD9B72-4CC2-F3F3-1F2A-6307EBD97D7F}"/>
              </a:ext>
            </a:extLst>
          </p:cNvPr>
          <p:cNvSpPr/>
          <p:nvPr/>
        </p:nvSpPr>
        <p:spPr>
          <a:xfrm>
            <a:off x="918485" y="4024700"/>
            <a:ext cx="7286625" cy="499700"/>
          </a:xfrm>
          <a:prstGeom prst="rect">
            <a:avLst/>
          </a:prstGeom>
          <a:solidFill>
            <a:srgbClr val="FF6B35">
              <a:alpha val="8000"/>
            </a:srgbClr>
          </a:solidFill>
          <a:ln/>
        </p:spPr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64EBA377-10B7-0A0B-8E51-F0862E067759}"/>
              </a:ext>
            </a:extLst>
          </p:cNvPr>
          <p:cNvSpPr/>
          <p:nvPr/>
        </p:nvSpPr>
        <p:spPr>
          <a:xfrm>
            <a:off x="918485" y="4024700"/>
            <a:ext cx="28575" cy="4997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8" name="Shape 23">
            <a:extLst>
              <a:ext uri="{FF2B5EF4-FFF2-40B4-BE49-F238E27FC236}">
                <a16:creationId xmlns:a16="http://schemas.microsoft.com/office/drawing/2014/main" id="{61F8463D-D938-6202-2A5F-4C3407A67BC0}"/>
              </a:ext>
            </a:extLst>
          </p:cNvPr>
          <p:cNvSpPr/>
          <p:nvPr/>
        </p:nvSpPr>
        <p:spPr>
          <a:xfrm>
            <a:off x="1004210" y="4110425"/>
            <a:ext cx="300038" cy="300038"/>
          </a:xfrm>
          <a:prstGeom prst="rect">
            <a:avLst/>
          </a:prstGeom>
          <a:solidFill>
            <a:srgbClr val="FF6B35">
              <a:alpha val="20000"/>
            </a:srgbClr>
          </a:solidFill>
          <a:ln/>
        </p:spPr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6850E64D-8E7F-430E-F2B6-5BFBB10D0856}"/>
              </a:ext>
            </a:extLst>
          </p:cNvPr>
          <p:cNvSpPr/>
          <p:nvPr/>
        </p:nvSpPr>
        <p:spPr>
          <a:xfrm>
            <a:off x="1389972" y="4217969"/>
            <a:ext cx="4410695" cy="153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Step 6: Embed the chunks and store in the Qdrant database</a:t>
            </a:r>
            <a:endParaRPr lang="en-US" sz="1400" dirty="0">
              <a:solidFill>
                <a:schemeClr val="accent2"/>
              </a:solidFill>
            </a:endParaRPr>
          </a:p>
        </p:txBody>
      </p:sp>
      <p:pic>
        <p:nvPicPr>
          <p:cNvPr id="52" name="Image 6" descr="preencoded.png">
            <a:extLst>
              <a:ext uri="{FF2B5EF4-FFF2-40B4-BE49-F238E27FC236}">
                <a16:creationId xmlns:a16="http://schemas.microsoft.com/office/drawing/2014/main" id="{D51DAC17-29B5-D8EF-D4E0-E2819F0D72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8503" y="4146144"/>
            <a:ext cx="200025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F8726D1-1997-7078-B5AD-604D2234F3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916" t="8553" r="14417" b="19851"/>
          <a:stretch/>
        </p:blipFill>
        <p:spPr>
          <a:xfrm>
            <a:off x="1402078" y="1547410"/>
            <a:ext cx="6667501" cy="3573780"/>
          </a:xfrm>
          <a:prstGeom prst="rect">
            <a:avLst/>
          </a:prstGeom>
        </p:spPr>
      </p:pic>
      <p:sp>
        <p:nvSpPr>
          <p:cNvPr id="18" name="Text 61">
            <a:extLst>
              <a:ext uri="{FF2B5EF4-FFF2-40B4-BE49-F238E27FC236}">
                <a16:creationId xmlns:a16="http://schemas.microsoft.com/office/drawing/2014/main" id="{F0A3C1B3-D189-B48F-243C-618ED0E02492}"/>
              </a:ext>
            </a:extLst>
          </p:cNvPr>
          <p:cNvSpPr/>
          <p:nvPr/>
        </p:nvSpPr>
        <p:spPr>
          <a:xfrm>
            <a:off x="601981" y="331879"/>
            <a:ext cx="5320260" cy="1069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0E0E0"/>
                </a:solidFill>
              </a:rPr>
              <a:t>Chunks embedded with multilingual-e5-large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0E0E0"/>
                </a:solidFill>
              </a:rPr>
              <a:t>Indexing with HNSW Graph-based navigation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0E0E0"/>
                </a:solidFill>
              </a:rPr>
              <a:t>Stored vectors in Qdrant cloud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ACA370-1AF5-0B0F-0777-EB11C00324CB}"/>
              </a:ext>
            </a:extLst>
          </p:cNvPr>
          <p:cNvSpPr txBox="1"/>
          <p:nvPr/>
        </p:nvSpPr>
        <p:spPr>
          <a:xfrm>
            <a:off x="-114300" y="114611"/>
            <a:ext cx="2402204" cy="355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800" b="1" dirty="0">
                <a:solidFill>
                  <a:srgbClr val="FF6B35"/>
                </a:solidFill>
              </a:rPr>
              <a:t>Embedding &amp; Indexing</a:t>
            </a:r>
          </a:p>
          <a:p>
            <a:pPr marL="0" indent="0" algn="ctr">
              <a:lnSpc>
                <a:spcPts val="900"/>
              </a:lnSpc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74793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429880" y="428625"/>
            <a:ext cx="4284213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6B35"/>
                </a:solidFill>
              </a:rPr>
              <a:t>Multilingual Embeddings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1071563" y="1180505"/>
            <a:ext cx="3357563" cy="298672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b="1" dirty="0">
                <a:solidFill>
                  <a:srgbClr val="FFFFFF"/>
                </a:solidFill>
              </a:rPr>
              <a:t>Embedding Model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1071563" y="1618059"/>
            <a:ext cx="3357563" cy="1849115"/>
          </a:xfrm>
          <a:prstGeom prst="rect">
            <a:avLst/>
          </a:prstGeom>
          <a:solidFill>
            <a:srgbClr val="FF6B35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071563" y="1618059"/>
            <a:ext cx="28575" cy="184911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4"/>
          <p:cNvSpPr/>
          <p:nvPr/>
        </p:nvSpPr>
        <p:spPr>
          <a:xfrm>
            <a:off x="1214438" y="1760934"/>
            <a:ext cx="2184893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FF6B35"/>
                </a:solidFill>
              </a:rPr>
              <a:t>intfloat/multilingual-e5-large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14438" y="2021681"/>
            <a:ext cx="3071813" cy="1846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E0E0E0"/>
                </a:solidFill>
              </a:rPr>
              <a:t>Multilingual embedding model with exceptional support for Arabic and dialectal variations.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E0E0E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E0E0E0"/>
                </a:solidFill>
              </a:rPr>
              <a:t>1024-dimensional output vectors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E0E0E0"/>
                </a:solidFill>
              </a:rPr>
              <a:t>Strong Arabic language support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E0E0E0"/>
                </a:solidFill>
              </a:rPr>
              <a:t>Optimized for semantic search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3126" y="4443016"/>
            <a:ext cx="65" cy="127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14438" y="2801020"/>
            <a:ext cx="65" cy="127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14438" y="2999259"/>
            <a:ext cx="65" cy="127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14438" y="3197498"/>
            <a:ext cx="65" cy="127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617278" y="3598061"/>
            <a:ext cx="1625203" cy="582216"/>
          </a:xfrm>
          <a:prstGeom prst="rect">
            <a:avLst/>
          </a:prstGeom>
          <a:solidFill>
            <a:srgbClr val="FF6B35">
              <a:alpha val="1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743153" y="3705218"/>
            <a:ext cx="1373453" cy="117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1200" b="1" dirty="0">
                <a:solidFill>
                  <a:srgbClr val="E0E0E0"/>
                </a:solidFill>
              </a:rPr>
              <a:t>Languages Supported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273586" y="3878454"/>
            <a:ext cx="312586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6B35"/>
                </a:solidFill>
              </a:rPr>
              <a:t>100+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14875" y="1180505"/>
            <a:ext cx="3357563" cy="298672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b="1" dirty="0">
                <a:solidFill>
                  <a:srgbClr val="FFFFFF"/>
                </a:solidFill>
              </a:rPr>
              <a:t>Processing Pipeline</a:t>
            </a: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4714875" y="1618059"/>
            <a:ext cx="3357563" cy="650081"/>
          </a:xfrm>
          <a:prstGeom prst="rect">
            <a:avLst/>
          </a:prstGeom>
          <a:solidFill>
            <a:srgbClr val="FF6B35">
              <a:alpha val="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4714875" y="1618059"/>
            <a:ext cx="28575" cy="650081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Shape 20"/>
          <p:cNvSpPr/>
          <p:nvPr/>
        </p:nvSpPr>
        <p:spPr>
          <a:xfrm>
            <a:off x="4829175" y="1732359"/>
            <a:ext cx="285750" cy="285750"/>
          </a:xfrm>
          <a:prstGeom prst="ellipse">
            <a:avLst/>
          </a:prstGeom>
          <a:solidFill>
            <a:srgbClr val="FF6B35">
              <a:alpha val="20000"/>
            </a:srgbClr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756" y="1810941"/>
            <a:ext cx="128588" cy="12858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235323" y="1834554"/>
            <a:ext cx="1248932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Batch Processing</a:t>
            </a:r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27" name="Shape 23"/>
          <p:cNvSpPr/>
          <p:nvPr/>
        </p:nvSpPr>
        <p:spPr>
          <a:xfrm>
            <a:off x="4714875" y="2375297"/>
            <a:ext cx="3357563" cy="521494"/>
          </a:xfrm>
          <a:prstGeom prst="rect">
            <a:avLst/>
          </a:prstGeom>
          <a:solidFill>
            <a:srgbClr val="FF6B35">
              <a:alpha val="8000"/>
            </a:srgbClr>
          </a:solidFill>
          <a:ln/>
        </p:spPr>
      </p:sp>
      <p:sp>
        <p:nvSpPr>
          <p:cNvPr id="28" name="Shape 24"/>
          <p:cNvSpPr/>
          <p:nvPr/>
        </p:nvSpPr>
        <p:spPr>
          <a:xfrm>
            <a:off x="4714875" y="2375297"/>
            <a:ext cx="28575" cy="52149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9" name="Shape 25"/>
          <p:cNvSpPr/>
          <p:nvPr/>
        </p:nvSpPr>
        <p:spPr>
          <a:xfrm>
            <a:off x="4829175" y="2489597"/>
            <a:ext cx="285750" cy="285750"/>
          </a:xfrm>
          <a:prstGeom prst="ellipse">
            <a:avLst/>
          </a:prstGeom>
          <a:solidFill>
            <a:srgbClr val="FF6B35">
              <a:alpha val="20000"/>
            </a:srgbClr>
          </a:solidFill>
          <a:ln/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7756" y="2568178"/>
            <a:ext cx="128588" cy="12858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235323" y="2591792"/>
            <a:ext cx="1297599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GPU Acceleration</a:t>
            </a:r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33" name="Shape 28"/>
          <p:cNvSpPr/>
          <p:nvPr/>
        </p:nvSpPr>
        <p:spPr>
          <a:xfrm>
            <a:off x="4714875" y="3003947"/>
            <a:ext cx="3357563" cy="521494"/>
          </a:xfrm>
          <a:prstGeom prst="rect">
            <a:avLst/>
          </a:prstGeom>
          <a:solidFill>
            <a:srgbClr val="FF6B35">
              <a:alpha val="8000"/>
            </a:srgbClr>
          </a:solidFill>
          <a:ln/>
        </p:spPr>
      </p:sp>
      <p:sp>
        <p:nvSpPr>
          <p:cNvPr id="34" name="Shape 29"/>
          <p:cNvSpPr/>
          <p:nvPr/>
        </p:nvSpPr>
        <p:spPr>
          <a:xfrm>
            <a:off x="4714875" y="3003947"/>
            <a:ext cx="28575" cy="52149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5" name="Shape 30"/>
          <p:cNvSpPr/>
          <p:nvPr/>
        </p:nvSpPr>
        <p:spPr>
          <a:xfrm>
            <a:off x="4829175" y="3118247"/>
            <a:ext cx="285750" cy="285750"/>
          </a:xfrm>
          <a:prstGeom prst="ellipse">
            <a:avLst/>
          </a:prstGeom>
          <a:solidFill>
            <a:srgbClr val="FF6B35">
              <a:alpha val="20000"/>
            </a:srgbClr>
          </a:solidFill>
          <a:ln/>
        </p:spPr>
      </p:sp>
      <p:sp>
        <p:nvSpPr>
          <p:cNvPr id="36" name="Text 31"/>
          <p:cNvSpPr/>
          <p:nvPr/>
        </p:nvSpPr>
        <p:spPr>
          <a:xfrm>
            <a:off x="5235323" y="3220442"/>
            <a:ext cx="1596591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Vector Normalization</a:t>
            </a:r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38" name="Shape 33"/>
          <p:cNvSpPr/>
          <p:nvPr/>
        </p:nvSpPr>
        <p:spPr>
          <a:xfrm>
            <a:off x="4714875" y="3632597"/>
            <a:ext cx="3357563" cy="521494"/>
          </a:xfrm>
          <a:prstGeom prst="rect">
            <a:avLst/>
          </a:prstGeom>
          <a:solidFill>
            <a:srgbClr val="FF6B35">
              <a:alpha val="8000"/>
            </a:srgbClr>
          </a:solidFill>
          <a:ln/>
        </p:spPr>
      </p:sp>
      <p:sp>
        <p:nvSpPr>
          <p:cNvPr id="39" name="Shape 34"/>
          <p:cNvSpPr/>
          <p:nvPr/>
        </p:nvSpPr>
        <p:spPr>
          <a:xfrm>
            <a:off x="4714875" y="3632597"/>
            <a:ext cx="28575" cy="52149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0" name="Shape 35"/>
          <p:cNvSpPr/>
          <p:nvPr/>
        </p:nvSpPr>
        <p:spPr>
          <a:xfrm>
            <a:off x="4829175" y="3746897"/>
            <a:ext cx="285750" cy="285750"/>
          </a:xfrm>
          <a:prstGeom prst="ellipse">
            <a:avLst/>
          </a:prstGeom>
          <a:solidFill>
            <a:srgbClr val="FF6B35">
              <a:alpha val="20000"/>
            </a:srgbClr>
          </a:solidFill>
          <a:ln/>
        </p:spPr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5793" y="3825478"/>
            <a:ext cx="112514" cy="128588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5235323" y="3849092"/>
            <a:ext cx="1342419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Persistent Storage</a:t>
            </a:r>
            <a:endParaRPr lang="en-US" sz="1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61">
            <a:extLst>
              <a:ext uri="{FF2B5EF4-FFF2-40B4-BE49-F238E27FC236}">
                <a16:creationId xmlns:a16="http://schemas.microsoft.com/office/drawing/2014/main" id="{F0A3C1B3-D189-B48F-243C-618ED0E02492}"/>
              </a:ext>
            </a:extLst>
          </p:cNvPr>
          <p:cNvSpPr/>
          <p:nvPr/>
        </p:nvSpPr>
        <p:spPr>
          <a:xfrm>
            <a:off x="601980" y="331879"/>
            <a:ext cx="7109460" cy="106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0E0E0"/>
                </a:solidFill>
              </a:rPr>
              <a:t>User Query </a:t>
            </a:r>
            <a:r>
              <a:rPr lang="en-US" sz="1600" dirty="0">
                <a:solidFill>
                  <a:srgbClr val="E0E0E0"/>
                </a:solidFill>
                <a:sym typeface="Wingdings" panose="05000000000000000000" pitchFamily="2" charset="2"/>
              </a:rPr>
              <a:t> </a:t>
            </a:r>
            <a:r>
              <a:rPr lang="en-US" sz="1600" dirty="0">
                <a:solidFill>
                  <a:srgbClr val="E0E0E0"/>
                </a:solidFill>
              </a:rPr>
              <a:t>Embed the query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0E0E0"/>
                </a:solidFill>
              </a:rPr>
              <a:t>Vector Search: Finds top 6 similar chunks in Qdrant.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0E0E0"/>
                </a:solidFill>
              </a:rPr>
              <a:t>Feed Query + Context -&gt; LLM(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llama-3.3-70b-versatile</a:t>
            </a:r>
            <a:r>
              <a:rPr lang="en-US" sz="1600" dirty="0">
                <a:solidFill>
                  <a:srgbClr val="E0E0E0"/>
                </a:solidFill>
              </a:rPr>
              <a:t>)(Groq API key)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ACA370-1AF5-0B0F-0777-EB11C00324CB}"/>
              </a:ext>
            </a:extLst>
          </p:cNvPr>
          <p:cNvSpPr txBox="1"/>
          <p:nvPr/>
        </p:nvSpPr>
        <p:spPr>
          <a:xfrm>
            <a:off x="-152400" y="154266"/>
            <a:ext cx="2044064" cy="355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b="1" dirty="0">
                <a:solidFill>
                  <a:srgbClr val="FF6B35"/>
                </a:solidFill>
              </a:rPr>
              <a:t>Retrieval Process </a:t>
            </a:r>
            <a:endParaRPr lang="en-US" sz="1800" b="1" dirty="0">
              <a:solidFill>
                <a:srgbClr val="FF6B35"/>
              </a:solidFill>
            </a:endParaRPr>
          </a:p>
          <a:p>
            <a:pPr marL="0" indent="0" algn="ctr">
              <a:lnSpc>
                <a:spcPts val="900"/>
              </a:lnSpc>
              <a:buNone/>
            </a:pP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CD2331-50A6-7288-4A43-CB01AD3F3B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416" t="6003" r="14501" b="19934"/>
          <a:stretch/>
        </p:blipFill>
        <p:spPr>
          <a:xfrm>
            <a:off x="1367790" y="1605216"/>
            <a:ext cx="6408420" cy="3538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993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8519" y="-3319"/>
            <a:ext cx="3084883" cy="390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6B35"/>
                </a:solidFill>
              </a:rPr>
              <a:t>Required Improvement </a:t>
            </a:r>
            <a:endParaRPr lang="en-US" sz="2436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85FF87-306A-0012-6932-82FE0179FEC4}"/>
              </a:ext>
            </a:extLst>
          </p:cNvPr>
          <p:cNvSpPr txBox="1"/>
          <p:nvPr/>
        </p:nvSpPr>
        <p:spPr>
          <a:xfrm>
            <a:off x="213360" y="502920"/>
            <a:ext cx="4663440" cy="4998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b="1" dirty="0">
                <a:solidFill>
                  <a:schemeClr val="bg1"/>
                </a:solidFill>
              </a:rPr>
              <a:t>Hybrid Retrieval </a:t>
            </a:r>
            <a:r>
              <a:rPr lang="en-US" b="1" dirty="0">
                <a:solidFill>
                  <a:schemeClr val="bg1"/>
                </a:solidFill>
                <a:sym typeface="Wingdings" panose="05000000000000000000" pitchFamily="2" charset="2"/>
              </a:rPr>
              <a:t> </a:t>
            </a:r>
            <a:r>
              <a:rPr lang="en-US" dirty="0">
                <a:solidFill>
                  <a:schemeClr val="bg1"/>
                </a:solidFill>
              </a:rPr>
              <a:t>Dense + Sparse(BM25)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b="1" dirty="0">
                <a:solidFill>
                  <a:schemeClr val="bg1"/>
                </a:solidFill>
              </a:rPr>
              <a:t>Reranking(Cross-Encoder)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b="1" dirty="0">
                <a:solidFill>
                  <a:schemeClr val="bg1"/>
                </a:solidFill>
              </a:rPr>
              <a:t>Maximal Marginal Relevance (MMR): </a:t>
            </a:r>
            <a:r>
              <a:rPr lang="en-US" sz="1400" dirty="0">
                <a:solidFill>
                  <a:schemeClr val="bg1"/>
                </a:solidFill>
              </a:rPr>
              <a:t>Balance relevance with diversity (reduce redundancy) 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b="1" dirty="0">
                <a:solidFill>
                  <a:schemeClr val="bg1"/>
                </a:solidFill>
              </a:rPr>
              <a:t>Query Transformation: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it-IT" sz="1400" dirty="0">
                <a:solidFill>
                  <a:schemeClr val="bg1"/>
                </a:solidFill>
              </a:rPr>
              <a:t>Multi-Query Generate 3-5 query variations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b="1" dirty="0">
                <a:solidFill>
                  <a:schemeClr val="bg1"/>
                </a:solidFill>
              </a:rPr>
              <a:t>Query Routing: </a:t>
            </a:r>
            <a:r>
              <a:rPr lang="en-US" sz="1400" dirty="0">
                <a:solidFill>
                  <a:schemeClr val="bg1"/>
                </a:solidFill>
              </a:rPr>
              <a:t>Not every query should go to RAG.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b="1" dirty="0">
                <a:solidFill>
                  <a:schemeClr val="bg1"/>
                </a:solidFill>
              </a:rPr>
              <a:t>RAG Evaluation: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Retrieval Metrics, Generation Metrics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b="1" dirty="0">
                <a:solidFill>
                  <a:schemeClr val="bg1"/>
                </a:solidFill>
              </a:rPr>
              <a:t>Implement semantic caching</a:t>
            </a:r>
            <a:br>
              <a:rPr lang="en-US" b="1" dirty="0">
                <a:solidFill>
                  <a:schemeClr val="bg1"/>
                </a:solidFill>
              </a:rPr>
            </a:br>
            <a:endParaRPr lang="en-US" sz="1400" dirty="0">
              <a:solidFill>
                <a:schemeClr val="bg1"/>
              </a:solidFill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endParaRPr lang="en-US" b="1" dirty="0">
              <a:solidFill>
                <a:schemeClr val="bg1"/>
              </a:solidFill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6" name="Picture 5" descr="A diagram of a process&#10;&#10;AI-generated content may be incorrect.">
            <a:extLst>
              <a:ext uri="{FF2B5EF4-FFF2-40B4-BE49-F238E27FC236}">
                <a16:creationId xmlns:a16="http://schemas.microsoft.com/office/drawing/2014/main" id="{570BC4CF-2F54-7002-4016-74BD15054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044" y="691716"/>
            <a:ext cx="4345956" cy="28973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75496" y="428625"/>
            <a:ext cx="1393009" cy="390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6B35"/>
                </a:solidFill>
              </a:rPr>
              <a:t>Next Steps</a:t>
            </a:r>
            <a:endParaRPr lang="en-US" sz="2436" dirty="0"/>
          </a:p>
        </p:txBody>
      </p:sp>
      <p:sp>
        <p:nvSpPr>
          <p:cNvPr id="49" name="Shape 34"/>
          <p:cNvSpPr/>
          <p:nvPr/>
        </p:nvSpPr>
        <p:spPr>
          <a:xfrm>
            <a:off x="1762125" y="1111770"/>
            <a:ext cx="2130258" cy="1464098"/>
          </a:xfrm>
          <a:prstGeom prst="rect">
            <a:avLst/>
          </a:prstGeom>
          <a:solidFill>
            <a:srgbClr val="FF6B35">
              <a:alpha val="8000"/>
            </a:srgbClr>
          </a:solidFill>
          <a:ln/>
        </p:spPr>
      </p:sp>
      <p:sp>
        <p:nvSpPr>
          <p:cNvPr id="50" name="Shape 35"/>
          <p:cNvSpPr/>
          <p:nvPr/>
        </p:nvSpPr>
        <p:spPr>
          <a:xfrm>
            <a:off x="1762125" y="1111770"/>
            <a:ext cx="52752" cy="1464098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51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850" y="1229643"/>
            <a:ext cx="322380" cy="246856"/>
          </a:xfrm>
          <a:prstGeom prst="rect">
            <a:avLst/>
          </a:prstGeom>
        </p:spPr>
      </p:pic>
      <p:sp>
        <p:nvSpPr>
          <p:cNvPr id="52" name="Text 36"/>
          <p:cNvSpPr/>
          <p:nvPr/>
        </p:nvSpPr>
        <p:spPr>
          <a:xfrm>
            <a:off x="1847849" y="1488604"/>
            <a:ext cx="1669255" cy="127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Fine-Tuning</a:t>
            </a:r>
            <a:endParaRPr lang="en-US" sz="1200" dirty="0"/>
          </a:p>
        </p:txBody>
      </p:sp>
      <p:sp>
        <p:nvSpPr>
          <p:cNvPr id="53" name="Text 37"/>
          <p:cNvSpPr/>
          <p:nvPr/>
        </p:nvSpPr>
        <p:spPr>
          <a:xfrm>
            <a:off x="1847849" y="1667197"/>
            <a:ext cx="1891599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0E0E0"/>
                </a:solidFill>
              </a:rPr>
              <a:t>Train custom Telecom Egypt models for improved accuracy</a:t>
            </a:r>
            <a:endParaRPr lang="en-US" sz="1200" dirty="0"/>
          </a:p>
        </p:txBody>
      </p:sp>
      <p:sp>
        <p:nvSpPr>
          <p:cNvPr id="54" name="Shape 38"/>
          <p:cNvSpPr/>
          <p:nvPr/>
        </p:nvSpPr>
        <p:spPr>
          <a:xfrm>
            <a:off x="3875496" y="1120096"/>
            <a:ext cx="2130258" cy="1451654"/>
          </a:xfrm>
          <a:prstGeom prst="rect">
            <a:avLst/>
          </a:prstGeom>
          <a:solidFill>
            <a:srgbClr val="FF6B35">
              <a:alpha val="8000"/>
            </a:srgbClr>
          </a:solidFill>
          <a:ln/>
        </p:spPr>
      </p:sp>
      <p:sp>
        <p:nvSpPr>
          <p:cNvPr id="55" name="Shape 39"/>
          <p:cNvSpPr/>
          <p:nvPr/>
        </p:nvSpPr>
        <p:spPr>
          <a:xfrm>
            <a:off x="3875496" y="1120096"/>
            <a:ext cx="52752" cy="1451654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56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1220" y="1237968"/>
            <a:ext cx="257903" cy="244757"/>
          </a:xfrm>
          <a:prstGeom prst="rect">
            <a:avLst/>
          </a:prstGeom>
        </p:spPr>
      </p:pic>
      <p:sp>
        <p:nvSpPr>
          <p:cNvPr id="57" name="Text 40"/>
          <p:cNvSpPr/>
          <p:nvPr/>
        </p:nvSpPr>
        <p:spPr>
          <a:xfrm>
            <a:off x="3961220" y="1496930"/>
            <a:ext cx="1891599" cy="127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Multi-Regional Deployment</a:t>
            </a:r>
            <a:endParaRPr lang="en-US" sz="1200" dirty="0"/>
          </a:p>
        </p:txBody>
      </p:sp>
      <p:sp>
        <p:nvSpPr>
          <p:cNvPr id="58" name="Text 41"/>
          <p:cNvSpPr/>
          <p:nvPr/>
        </p:nvSpPr>
        <p:spPr>
          <a:xfrm>
            <a:off x="3961220" y="1811255"/>
            <a:ext cx="189159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0E0E0"/>
                </a:solidFill>
              </a:rPr>
              <a:t>Expand to other operators</a:t>
            </a:r>
            <a:endParaRPr lang="en-US" sz="1200" dirty="0"/>
          </a:p>
        </p:txBody>
      </p:sp>
      <p:sp>
        <p:nvSpPr>
          <p:cNvPr id="59" name="Shape 42"/>
          <p:cNvSpPr/>
          <p:nvPr/>
        </p:nvSpPr>
        <p:spPr>
          <a:xfrm>
            <a:off x="5954875" y="1120096"/>
            <a:ext cx="2130258" cy="1451654"/>
          </a:xfrm>
          <a:prstGeom prst="rect">
            <a:avLst/>
          </a:prstGeom>
          <a:solidFill>
            <a:srgbClr val="FF6B35">
              <a:alpha val="8000"/>
            </a:srgbClr>
          </a:solidFill>
          <a:ln/>
        </p:spPr>
      </p:sp>
      <p:sp>
        <p:nvSpPr>
          <p:cNvPr id="60" name="Shape 43"/>
          <p:cNvSpPr/>
          <p:nvPr/>
        </p:nvSpPr>
        <p:spPr>
          <a:xfrm>
            <a:off x="5954875" y="1120096"/>
            <a:ext cx="52752" cy="1451654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61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0600" y="1237967"/>
            <a:ext cx="323070" cy="244757"/>
          </a:xfrm>
          <a:prstGeom prst="rect">
            <a:avLst/>
          </a:prstGeom>
        </p:spPr>
      </p:pic>
      <p:sp>
        <p:nvSpPr>
          <p:cNvPr id="62" name="Text 44"/>
          <p:cNvSpPr/>
          <p:nvPr/>
        </p:nvSpPr>
        <p:spPr>
          <a:xfrm>
            <a:off x="6040599" y="1496928"/>
            <a:ext cx="1814475" cy="127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Autonomous Agents</a:t>
            </a:r>
            <a:endParaRPr lang="en-US" sz="1200" dirty="0"/>
          </a:p>
        </p:txBody>
      </p:sp>
      <p:sp>
        <p:nvSpPr>
          <p:cNvPr id="63" name="Text 45"/>
          <p:cNvSpPr/>
          <p:nvPr/>
        </p:nvSpPr>
        <p:spPr>
          <a:xfrm>
            <a:off x="6040599" y="1675522"/>
            <a:ext cx="2031346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0E0E0"/>
                </a:solidFill>
              </a:rPr>
              <a:t>Enable actions (bill payments, service changes) with authentication </a:t>
            </a:r>
            <a:endParaRPr lang="en-US" sz="1200" dirty="0"/>
          </a:p>
        </p:txBody>
      </p:sp>
      <p:pic>
        <p:nvPicPr>
          <p:cNvPr id="4" name="Image 5" descr="preencoded.png">
            <a:extLst>
              <a:ext uri="{FF2B5EF4-FFF2-40B4-BE49-F238E27FC236}">
                <a16:creationId xmlns:a16="http://schemas.microsoft.com/office/drawing/2014/main" id="{86385735-72FB-7E59-76EA-FB34FDE01E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3402" y="2171244"/>
            <a:ext cx="3214688" cy="321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11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813" y="539353"/>
            <a:ext cx="714375" cy="571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163453" y="1350169"/>
            <a:ext cx="2817093" cy="700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3731" b="1" kern="0" spc="2" dirty="0">
                <a:solidFill>
                  <a:srgbClr val="FF6B35"/>
                </a:solidFill>
              </a:rPr>
              <a:t>Thank You</a:t>
            </a:r>
            <a:endParaRPr lang="en-US" sz="3731" dirty="0"/>
          </a:p>
        </p:txBody>
      </p:sp>
      <p:sp>
        <p:nvSpPr>
          <p:cNvPr id="6" name="Text 2"/>
          <p:cNvSpPr/>
          <p:nvPr/>
        </p:nvSpPr>
        <p:spPr>
          <a:xfrm>
            <a:off x="3078956" y="2884624"/>
            <a:ext cx="2986088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Questions &amp; Discussion</a:t>
            </a:r>
            <a:endParaRPr lang="en-US" sz="1808" dirty="0"/>
          </a:p>
        </p:txBody>
      </p:sp>
      <p:sp>
        <p:nvSpPr>
          <p:cNvPr id="7" name="Text 3"/>
          <p:cNvSpPr/>
          <p:nvPr/>
        </p:nvSpPr>
        <p:spPr>
          <a:xfrm>
            <a:off x="2071688" y="3320393"/>
            <a:ext cx="50006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42" dirty="0">
                <a:solidFill>
                  <a:srgbClr val="B0B0B0"/>
                </a:solidFill>
              </a:rPr>
              <a:t>We welcome your questions, feedback, and ideas for improvement. Let's discuss how this RAG system can transform customer support at Telecom Egypt.</a:t>
            </a:r>
            <a:endParaRPr lang="en-US" sz="942" dirty="0"/>
          </a:p>
        </p:txBody>
      </p:sp>
      <p:sp>
        <p:nvSpPr>
          <p:cNvPr id="8" name="Shape 4"/>
          <p:cNvSpPr/>
          <p:nvPr/>
        </p:nvSpPr>
        <p:spPr>
          <a:xfrm>
            <a:off x="2109778" y="3960428"/>
            <a:ext cx="428625" cy="428625"/>
          </a:xfrm>
          <a:prstGeom prst="rect">
            <a:avLst/>
          </a:prstGeom>
          <a:solidFill>
            <a:srgbClr val="FF6B35">
              <a:alpha val="15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2109778" y="3960428"/>
            <a:ext cx="28575" cy="428625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4078" y="4074728"/>
            <a:ext cx="200025" cy="2000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148846" y="4446203"/>
            <a:ext cx="350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FF6B35"/>
                </a:solidFill>
              </a:rPr>
              <a:t>Email</a:t>
            </a:r>
            <a:endParaRPr lang="en-US" sz="683" dirty="0"/>
          </a:p>
        </p:txBody>
      </p:sp>
      <p:sp>
        <p:nvSpPr>
          <p:cNvPr id="12" name="Text 7"/>
          <p:cNvSpPr/>
          <p:nvPr/>
        </p:nvSpPr>
        <p:spPr>
          <a:xfrm>
            <a:off x="1458456" y="4639084"/>
            <a:ext cx="1731243" cy="1338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00" u="sng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6"/>
              </a:rPr>
              <a:t>mohamedsaidabusamaha@gmail.com</a:t>
            </a:r>
            <a:endParaRPr lang="en-US" sz="674" dirty="0"/>
          </a:p>
        </p:txBody>
      </p:sp>
      <p:sp>
        <p:nvSpPr>
          <p:cNvPr id="13" name="Shape 8"/>
          <p:cNvSpPr/>
          <p:nvPr/>
        </p:nvSpPr>
        <p:spPr>
          <a:xfrm>
            <a:off x="4357660" y="3960428"/>
            <a:ext cx="428625" cy="428625"/>
          </a:xfrm>
          <a:prstGeom prst="rect">
            <a:avLst/>
          </a:prstGeom>
          <a:solidFill>
            <a:srgbClr val="FF6B35">
              <a:alpha val="15000"/>
            </a:srgbClr>
          </a:solidFill>
          <a:ln/>
        </p:spPr>
      </p:sp>
      <p:sp>
        <p:nvSpPr>
          <p:cNvPr id="14" name="Shape 9"/>
          <p:cNvSpPr/>
          <p:nvPr/>
        </p:nvSpPr>
        <p:spPr>
          <a:xfrm>
            <a:off x="4357660" y="3960428"/>
            <a:ext cx="28575" cy="428625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4461" y="4074728"/>
            <a:ext cx="175022" cy="2000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077937" y="4446203"/>
            <a:ext cx="98809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FF6B35"/>
                </a:solidFill>
              </a:rPr>
              <a:t>Documentation</a:t>
            </a:r>
            <a:endParaRPr lang="en-US" sz="683" dirty="0"/>
          </a:p>
        </p:txBody>
      </p:sp>
      <p:sp>
        <p:nvSpPr>
          <p:cNvPr id="17" name="Text 11">
            <a:hlinkClick r:id="rId8"/>
          </p:cNvPr>
          <p:cNvSpPr/>
          <p:nvPr/>
        </p:nvSpPr>
        <p:spPr>
          <a:xfrm>
            <a:off x="3353704" y="4639084"/>
            <a:ext cx="3051669" cy="1345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8"/>
              </a:rPr>
              <a:t>https://github.com/MohamedSaeed130/Telecom-Egypt-mini-chatbot</a:t>
            </a:r>
            <a:endParaRPr lang="en-US" sz="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6605569" y="3960428"/>
            <a:ext cx="428625" cy="428625"/>
          </a:xfrm>
          <a:prstGeom prst="rect">
            <a:avLst/>
          </a:prstGeom>
          <a:solidFill>
            <a:srgbClr val="FF6B35">
              <a:alpha val="15000"/>
            </a:srgbClr>
          </a:solidFill>
          <a:ln/>
        </p:spPr>
      </p:sp>
      <p:sp>
        <p:nvSpPr>
          <p:cNvPr id="19" name="Shape 13"/>
          <p:cNvSpPr/>
          <p:nvPr/>
        </p:nvSpPr>
        <p:spPr>
          <a:xfrm>
            <a:off x="6605569" y="3960428"/>
            <a:ext cx="28575" cy="428625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9869" y="4074728"/>
            <a:ext cx="200025" cy="20002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14542" y="4446203"/>
            <a:ext cx="6106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FF6B35"/>
                </a:solidFill>
              </a:rPr>
              <a:t>Live Demo</a:t>
            </a:r>
            <a:endParaRPr lang="en-US" sz="683" dirty="0"/>
          </a:p>
        </p:txBody>
      </p:sp>
      <p:sp>
        <p:nvSpPr>
          <p:cNvPr id="22" name="Text 15"/>
          <p:cNvSpPr/>
          <p:nvPr/>
        </p:nvSpPr>
        <p:spPr>
          <a:xfrm>
            <a:off x="6594120" y="4639084"/>
            <a:ext cx="428002" cy="269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r>
              <a:rPr lang="en-US" sz="1000" b="1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10"/>
              </a:rPr>
              <a:t>DEMO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100"/>
              </a:lnSpc>
              <a:buNone/>
            </a:pPr>
            <a:endParaRPr lang="en-US" sz="674" dirty="0"/>
          </a:p>
        </p:txBody>
      </p:sp>
      <p:sp>
        <p:nvSpPr>
          <p:cNvPr id="23" name="Text 16"/>
          <p:cNvSpPr/>
          <p:nvPr/>
        </p:nvSpPr>
        <p:spPr>
          <a:xfrm>
            <a:off x="1714500" y="4992700"/>
            <a:ext cx="57150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27" i="1" dirty="0">
                <a:solidFill>
                  <a:srgbClr val="999999"/>
                </a:solidFill>
              </a:rPr>
              <a:t>The complete source code, documentation, and deployment guides are available in the project repository. Thank you for considering this solution!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</TotalTime>
  <Words>542</Words>
  <Application>Microsoft Office PowerPoint</Application>
  <PresentationFormat>On-screen Show (16:9)</PresentationFormat>
  <Paragraphs>100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Mohammed Abu Samaha</cp:lastModifiedBy>
  <cp:revision>6</cp:revision>
  <dcterms:created xsi:type="dcterms:W3CDTF">2026-01-08T09:38:02Z</dcterms:created>
  <dcterms:modified xsi:type="dcterms:W3CDTF">2026-01-14T22:29:12Z</dcterms:modified>
</cp:coreProperties>
</file>