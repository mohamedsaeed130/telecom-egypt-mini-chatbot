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3" r:id="rId6"/>
    <p:sldId id="266" r:id="rId7"/>
    <p:sldId id="269" r:id="rId8"/>
    <p:sldId id="270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6663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1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MohamedSaeed130/Telecom-Egypt-mini-chatbot" TargetMode="External"/><Relationship Id="rId3" Type="http://schemas.openxmlformats.org/officeDocument/2006/relationships/image" Target="../media/image1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ohamedsaidabusamaha@gmail.com" TargetMode="External"/><Relationship Id="rId5" Type="http://schemas.openxmlformats.org/officeDocument/2006/relationships/image" Target="../media/image37.png"/><Relationship Id="rId4" Type="http://schemas.openxmlformats.org/officeDocument/2006/relationships/image" Target="../media/image36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71500" y="684544"/>
            <a:ext cx="4000500" cy="1440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3800"/>
              </a:lnSpc>
              <a:buNone/>
            </a:pPr>
            <a:r>
              <a:rPr lang="en-US" sz="2862" b="1" dirty="0">
                <a:solidFill>
                  <a:srgbClr val="FFFFFF"/>
                </a:solidFill>
              </a:rPr>
              <a:t>Telecom Egypt Intelligent Assistant</a:t>
            </a:r>
            <a:endParaRPr lang="en-US" sz="2862" dirty="0"/>
          </a:p>
        </p:txBody>
      </p:sp>
      <p:sp>
        <p:nvSpPr>
          <p:cNvPr id="4" name="Text 1"/>
          <p:cNvSpPr/>
          <p:nvPr/>
        </p:nvSpPr>
        <p:spPr>
          <a:xfrm>
            <a:off x="571500" y="2267583"/>
            <a:ext cx="2994474" cy="27251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b="1" dirty="0">
                <a:solidFill>
                  <a:srgbClr val="FF6B35"/>
                </a:solidFill>
              </a:rPr>
              <a:t>Production-Ready RAG Chatbot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571500" y="2865872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6" name="Text 3"/>
          <p:cNvSpPr/>
          <p:nvPr/>
        </p:nvSpPr>
        <p:spPr>
          <a:xfrm>
            <a:off x="750094" y="2865872"/>
            <a:ext cx="3101490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Powered by official website (te.eg) + user uploads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71500" y="3106973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8" name="Text 5"/>
          <p:cNvSpPr/>
          <p:nvPr/>
        </p:nvSpPr>
        <p:spPr>
          <a:xfrm>
            <a:off x="750094" y="3106973"/>
            <a:ext cx="3315972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Multilingual support: Arabic, Egyptian dialect, English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71500" y="3348075"/>
            <a:ext cx="107156" cy="17502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FF6B35"/>
                </a:solidFill>
              </a:rPr>
              <a:t>✓</a:t>
            </a:r>
            <a:endParaRPr lang="en-US" sz="885" dirty="0"/>
          </a:p>
        </p:txBody>
      </p:sp>
      <p:sp>
        <p:nvSpPr>
          <p:cNvPr id="10" name="Text 7"/>
          <p:cNvSpPr/>
          <p:nvPr/>
        </p:nvSpPr>
        <p:spPr>
          <a:xfrm>
            <a:off x="750094" y="3348075"/>
            <a:ext cx="3174331" cy="146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Grounded answers with automatic source citations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71500" y="3589176"/>
            <a:ext cx="65" cy="14536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endParaRPr lang="en-US" sz="885" dirty="0"/>
          </a:p>
        </p:txBody>
      </p:sp>
      <p:sp>
        <p:nvSpPr>
          <p:cNvPr id="13" name="Text 10"/>
          <p:cNvSpPr/>
          <p:nvPr/>
        </p:nvSpPr>
        <p:spPr>
          <a:xfrm>
            <a:off x="571500" y="4187465"/>
            <a:ext cx="4000500" cy="1339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000" b="1" dirty="0">
                <a:solidFill>
                  <a:srgbClr val="FF6B35"/>
                </a:solidFill>
              </a:rPr>
              <a:t>Presenter:</a:t>
            </a:r>
            <a:r>
              <a:rPr lang="en-US" sz="1000" dirty="0">
                <a:solidFill>
                  <a:srgbClr val="E0E0E0"/>
                </a:solidFill>
              </a:rPr>
              <a:t> </a:t>
            </a:r>
            <a:r>
              <a:rPr lang="en-US" sz="1400" dirty="0">
                <a:solidFill>
                  <a:srgbClr val="E0E0E0"/>
                </a:solidFill>
              </a:rPr>
              <a:t>Mohamed Saeed Abu Samaha</a:t>
            </a:r>
            <a:endParaRPr lang="en-US" sz="140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6469" y="2153813"/>
            <a:ext cx="1071563" cy="857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7A1DD09-F49E-43D9-B242-D6046FE56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6920" y="3577119"/>
            <a:ext cx="476316" cy="204940"/>
          </a:xfrm>
          <a:prstGeom prst="rect">
            <a:avLst/>
          </a:prstGeom>
        </p:spPr>
      </p:pic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361C4D82-8810-34F6-4BF7-28969BB6D78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3500" y="1111343"/>
            <a:ext cx="2857500" cy="285750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164207" y="428625"/>
            <a:ext cx="2815558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Problem &amp; Goals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1071563" y="1180505"/>
            <a:ext cx="3357563" cy="34355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The Problem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1071563" y="1714500"/>
            <a:ext cx="3357563" cy="975457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71563" y="1714500"/>
            <a:ext cx="28575" cy="975457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1214438" y="1857375"/>
            <a:ext cx="3071813" cy="31253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602" b="1" dirty="0">
                <a:solidFill>
                  <a:srgbClr val="FF6B35"/>
                </a:solidFill>
              </a:rPr>
              <a:t>1000s</a:t>
            </a:r>
            <a:endParaRPr lang="en-US" sz="1602" dirty="0"/>
          </a:p>
        </p:txBody>
      </p:sp>
      <p:sp>
        <p:nvSpPr>
          <p:cNvPr id="8" name="Text 5"/>
          <p:cNvSpPr/>
          <p:nvPr/>
        </p:nvSpPr>
        <p:spPr>
          <a:xfrm>
            <a:off x="1214438" y="2227064"/>
            <a:ext cx="3071813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Daily customer inquiries about plans, billing, and technical support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071563" y="2832832"/>
            <a:ext cx="3357563" cy="815448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1071563" y="2832832"/>
            <a:ext cx="28575" cy="8154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1" name="Text 8"/>
          <p:cNvSpPr/>
          <p:nvPr/>
        </p:nvSpPr>
        <p:spPr>
          <a:xfrm>
            <a:off x="1214438" y="2975707"/>
            <a:ext cx="65" cy="2657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2200"/>
              </a:lnSpc>
              <a:buNone/>
            </a:pPr>
            <a:endParaRPr lang="en-US" sz="1602" dirty="0"/>
          </a:p>
        </p:txBody>
      </p:sp>
      <p:sp>
        <p:nvSpPr>
          <p:cNvPr id="12" name="Text 9"/>
          <p:cNvSpPr/>
          <p:nvPr/>
        </p:nvSpPr>
        <p:spPr>
          <a:xfrm>
            <a:off x="1214438" y="3073843"/>
            <a:ext cx="2957513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Manual responses a time-consuming and inconsistent</a:t>
            </a:r>
          </a:p>
        </p:txBody>
      </p:sp>
      <p:sp>
        <p:nvSpPr>
          <p:cNvPr id="13" name="Shape 10"/>
          <p:cNvSpPr/>
          <p:nvPr/>
        </p:nvSpPr>
        <p:spPr>
          <a:xfrm>
            <a:off x="1071563" y="3788749"/>
            <a:ext cx="3357563" cy="815448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071563" y="3791155"/>
            <a:ext cx="28575" cy="815448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6" name="Text 13"/>
          <p:cNvSpPr/>
          <p:nvPr/>
        </p:nvSpPr>
        <p:spPr>
          <a:xfrm>
            <a:off x="1214438" y="4029760"/>
            <a:ext cx="2826067" cy="3391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Customers speak Arabic, Egyptian dialect, and English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714875" y="1180505"/>
            <a:ext cx="3357563" cy="343556"/>
          </a:xfrm>
          <a:prstGeom prst="rect">
            <a:avLst/>
          </a:prstGeom>
          <a:noFill/>
          <a:ln/>
        </p:spPr>
        <p:txBody>
          <a:bodyPr wrap="square" lIns="0" tIns="0" rIns="0" bIns="127508" rtlCol="0" anchor="t">
            <a:spAutoFit/>
          </a:bodyPr>
          <a:lstStyle/>
          <a:p>
            <a:pPr marL="0" indent="0" algn="l">
              <a:lnSpc>
                <a:spcPts val="16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Our Goals</a:t>
            </a:r>
            <a:endParaRPr lang="en-US" dirty="0"/>
          </a:p>
        </p:txBody>
      </p:sp>
      <p:sp>
        <p:nvSpPr>
          <p:cNvPr id="18" name="Shape 15"/>
          <p:cNvSpPr/>
          <p:nvPr/>
        </p:nvSpPr>
        <p:spPr>
          <a:xfrm>
            <a:off x="4714875" y="1714500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3456" y="1793081"/>
            <a:ext cx="128588" cy="12858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5044437" y="1714500"/>
            <a:ext cx="3837589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Answer questions grounded on official te.eg website</a:t>
            </a:r>
            <a:endParaRPr lang="en-US" sz="1400" dirty="0"/>
          </a:p>
        </p:txBody>
      </p:sp>
      <p:sp>
        <p:nvSpPr>
          <p:cNvPr id="21" name="Shape 17"/>
          <p:cNvSpPr/>
          <p:nvPr/>
        </p:nvSpPr>
        <p:spPr>
          <a:xfrm>
            <a:off x="4714875" y="2128838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3456" y="2207419"/>
            <a:ext cx="128588" cy="128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5044437" y="2128838"/>
            <a:ext cx="4075218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Support Arabic, Egyptian dialect, and English seamlessly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4714875" y="2543175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9530" y="2621756"/>
            <a:ext cx="96441" cy="12858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044437" y="2543175"/>
            <a:ext cx="3706143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Allow file uploads (PDF, DOCX, TXT, HTML, Images)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714875" y="2957513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36094"/>
            <a:ext cx="114300" cy="12858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5044437" y="2957513"/>
            <a:ext cx="2856551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Provide source citations for all answers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4714875" y="3371850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3456" y="3450431"/>
            <a:ext cx="128588" cy="128588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5044437" y="3371850"/>
            <a:ext cx="3151312" cy="241156"/>
          </a:xfrm>
          <a:prstGeom prst="rect">
            <a:avLst/>
          </a:prstGeom>
          <a:noFill/>
          <a:ln/>
        </p:spPr>
        <p:txBody>
          <a:bodyPr wrap="none" lIns="0" tIns="68072" rIns="0" bIns="0" rtlCol="0" anchor="t">
            <a:spAutoFit/>
          </a:bodyPr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0E0E0"/>
                </a:solidFill>
              </a:rPr>
              <a:t>Deliver professional, user-friendly interface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549230" y="428625"/>
            <a:ext cx="4045539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High-Level Architecture</a:t>
            </a:r>
            <a:endParaRPr lang="en-US" sz="2436" dirty="0"/>
          </a:p>
        </p:txBody>
      </p:sp>
      <p:sp>
        <p:nvSpPr>
          <p:cNvPr id="60" name="Shape 54"/>
          <p:cNvSpPr/>
          <p:nvPr/>
        </p:nvSpPr>
        <p:spPr>
          <a:xfrm>
            <a:off x="592671" y="1206258"/>
            <a:ext cx="3208717" cy="900640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</p:sp>
      <p:sp>
        <p:nvSpPr>
          <p:cNvPr id="61" name="Shape 55"/>
          <p:cNvSpPr/>
          <p:nvPr/>
        </p:nvSpPr>
        <p:spPr>
          <a:xfrm>
            <a:off x="592671" y="1128449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2" name="Text 56"/>
          <p:cNvSpPr/>
          <p:nvPr/>
        </p:nvSpPr>
        <p:spPr>
          <a:xfrm>
            <a:off x="1578272" y="1277695"/>
            <a:ext cx="1237519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Data Ingestion</a:t>
            </a:r>
            <a:endParaRPr lang="en-US" sz="1600" dirty="0"/>
          </a:p>
        </p:txBody>
      </p:sp>
      <p:sp>
        <p:nvSpPr>
          <p:cNvPr id="63" name="Text 57"/>
          <p:cNvSpPr/>
          <p:nvPr/>
        </p:nvSpPr>
        <p:spPr>
          <a:xfrm>
            <a:off x="592671" y="1489326"/>
            <a:ext cx="3208716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Scrapy crawls te.eg + users upload files → parsed and chunked</a:t>
            </a:r>
            <a:endParaRPr lang="en-US" sz="1600" dirty="0"/>
          </a:p>
        </p:txBody>
      </p:sp>
      <p:sp>
        <p:nvSpPr>
          <p:cNvPr id="67" name="Text 61"/>
          <p:cNvSpPr/>
          <p:nvPr/>
        </p:nvSpPr>
        <p:spPr>
          <a:xfrm>
            <a:off x="592671" y="2748808"/>
            <a:ext cx="3208716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Chunks embedded with multilingual-e5 → stored in Qdrant</a:t>
            </a:r>
            <a:endParaRPr lang="en-US" sz="1600" dirty="0"/>
          </a:p>
        </p:txBody>
      </p:sp>
      <p:sp>
        <p:nvSpPr>
          <p:cNvPr id="70" name="Text 64"/>
          <p:cNvSpPr/>
          <p:nvPr/>
        </p:nvSpPr>
        <p:spPr>
          <a:xfrm>
            <a:off x="1337191" y="3716800"/>
            <a:ext cx="1578958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Query &amp; Response</a:t>
            </a:r>
            <a:endParaRPr lang="en-US" sz="1600" dirty="0"/>
          </a:p>
        </p:txBody>
      </p:sp>
      <p:sp>
        <p:nvSpPr>
          <p:cNvPr id="71" name="Text 65"/>
          <p:cNvSpPr/>
          <p:nvPr/>
        </p:nvSpPr>
        <p:spPr>
          <a:xfrm>
            <a:off x="592671" y="3949378"/>
            <a:ext cx="3208717" cy="492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buNone/>
            </a:pPr>
            <a:r>
              <a:rPr lang="en-US" sz="1600" dirty="0">
                <a:solidFill>
                  <a:srgbClr val="E0E0E0"/>
                </a:solidFill>
              </a:rPr>
              <a:t>User query → retrieve relevant chunks → LLM generates answer</a:t>
            </a:r>
            <a:endParaRPr lang="en-US" sz="1600" dirty="0"/>
          </a:p>
        </p:txBody>
      </p:sp>
      <p:sp>
        <p:nvSpPr>
          <p:cNvPr id="72" name="Shape 54">
            <a:extLst>
              <a:ext uri="{FF2B5EF4-FFF2-40B4-BE49-F238E27FC236}">
                <a16:creationId xmlns:a16="http://schemas.microsoft.com/office/drawing/2014/main" id="{A29316BD-A5D6-F54B-AD76-A4A50313A46D}"/>
              </a:ext>
            </a:extLst>
          </p:cNvPr>
          <p:cNvSpPr/>
          <p:nvPr/>
        </p:nvSpPr>
        <p:spPr>
          <a:xfrm>
            <a:off x="592671" y="2396443"/>
            <a:ext cx="3208717" cy="880045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3" name="Shape 55">
            <a:extLst>
              <a:ext uri="{FF2B5EF4-FFF2-40B4-BE49-F238E27FC236}">
                <a16:creationId xmlns:a16="http://schemas.microsoft.com/office/drawing/2014/main" id="{4212C5D5-5453-4264-6581-4D85A48B8DA1}"/>
              </a:ext>
            </a:extLst>
          </p:cNvPr>
          <p:cNvSpPr/>
          <p:nvPr/>
        </p:nvSpPr>
        <p:spPr>
          <a:xfrm>
            <a:off x="592671" y="2355705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4" name="Text 60"/>
          <p:cNvSpPr/>
          <p:nvPr/>
        </p:nvSpPr>
        <p:spPr>
          <a:xfrm>
            <a:off x="1175423" y="2504776"/>
            <a:ext cx="1926811" cy="14068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600" b="1" dirty="0">
                <a:solidFill>
                  <a:srgbClr val="FF6B35"/>
                </a:solidFill>
              </a:rPr>
              <a:t>Embedding &amp; Indexing</a:t>
            </a:r>
            <a:endParaRPr lang="en-US" sz="1600" dirty="0"/>
          </a:p>
        </p:txBody>
      </p:sp>
      <p:sp>
        <p:nvSpPr>
          <p:cNvPr id="75" name="Shape 54">
            <a:extLst>
              <a:ext uri="{FF2B5EF4-FFF2-40B4-BE49-F238E27FC236}">
                <a16:creationId xmlns:a16="http://schemas.microsoft.com/office/drawing/2014/main" id="{86C622D5-FA40-C811-8F5B-236493079E21}"/>
              </a:ext>
            </a:extLst>
          </p:cNvPr>
          <p:cNvSpPr/>
          <p:nvPr/>
        </p:nvSpPr>
        <p:spPr>
          <a:xfrm>
            <a:off x="592671" y="3594013"/>
            <a:ext cx="3208717" cy="873949"/>
          </a:xfrm>
          <a:prstGeom prst="rect">
            <a:avLst/>
          </a:prstGeom>
          <a:solidFill>
            <a:srgbClr val="FF6B35">
              <a:alpha val="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6" name="Shape 55">
            <a:extLst>
              <a:ext uri="{FF2B5EF4-FFF2-40B4-BE49-F238E27FC236}">
                <a16:creationId xmlns:a16="http://schemas.microsoft.com/office/drawing/2014/main" id="{820F1A01-342F-EFDC-CF11-17E884DA6DAB}"/>
              </a:ext>
            </a:extLst>
          </p:cNvPr>
          <p:cNvSpPr/>
          <p:nvPr/>
        </p:nvSpPr>
        <p:spPr>
          <a:xfrm>
            <a:off x="592670" y="3548294"/>
            <a:ext cx="3208717" cy="45719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80" name="Image 5" descr="preencoded.png">
            <a:extLst>
              <a:ext uri="{FF2B5EF4-FFF2-40B4-BE49-F238E27FC236}">
                <a16:creationId xmlns:a16="http://schemas.microsoft.com/office/drawing/2014/main" id="{FB5925FF-951F-04D2-DB20-20D2C1F77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4139" y="1489326"/>
            <a:ext cx="4740339" cy="27122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746479" y="428625"/>
            <a:ext cx="5651013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File Upload &amp; Processing Pipeline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928688" y="1180505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28688" y="1180505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6" name="Shape 3"/>
          <p:cNvSpPr/>
          <p:nvPr/>
        </p:nvSpPr>
        <p:spPr>
          <a:xfrm>
            <a:off x="1014413" y="1266230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5134" y="1344811"/>
            <a:ext cx="178594" cy="142875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00175" y="1266230"/>
            <a:ext cx="2079095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1: Upload via Streamlit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9" name="Text 5"/>
          <p:cNvSpPr/>
          <p:nvPr/>
        </p:nvSpPr>
        <p:spPr>
          <a:xfrm>
            <a:off x="1400175" y="1464469"/>
            <a:ext cx="5614999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User uploads file through Streamlit interface → stored in object storage or local filesystem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28688" y="1751642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928688" y="1751642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2" name="Shape 8"/>
          <p:cNvSpPr/>
          <p:nvPr/>
        </p:nvSpPr>
        <p:spPr>
          <a:xfrm>
            <a:off x="1014413" y="1837367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5134" y="1915948"/>
            <a:ext cx="178594" cy="14287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00175" y="1837367"/>
            <a:ext cx="2171813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2: Worker Processes File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1400175" y="2035606"/>
            <a:ext cx="3929024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Background worker picks up file and begins processing pipeline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928688" y="2322779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928688" y="2322779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18" name="Shape 13"/>
          <p:cNvSpPr/>
          <p:nvPr/>
        </p:nvSpPr>
        <p:spPr>
          <a:xfrm>
            <a:off x="1014413" y="2408504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853" y="2487085"/>
            <a:ext cx="107156" cy="142875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00175" y="2408504"/>
            <a:ext cx="1965282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3: Parse Text Content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1" name="Text 15"/>
          <p:cNvSpPr/>
          <p:nvPr/>
        </p:nvSpPr>
        <p:spPr>
          <a:xfrm>
            <a:off x="1400175" y="2606743"/>
            <a:ext cx="6158737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Extract text using pdfplumber (PDF), python-docx (DOCX), HTML parser, or Tesseract OCR (images)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928688" y="2893916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3" name="Shape 17"/>
          <p:cNvSpPr/>
          <p:nvPr/>
        </p:nvSpPr>
        <p:spPr>
          <a:xfrm>
            <a:off x="928688" y="2893916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4" name="Shape 18"/>
          <p:cNvSpPr/>
          <p:nvPr/>
        </p:nvSpPr>
        <p:spPr>
          <a:xfrm>
            <a:off x="1014413" y="2979641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5134" y="3058223"/>
            <a:ext cx="178594" cy="14287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00175" y="2979641"/>
            <a:ext cx="1681551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4: Normalize Text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7" name="Text 20"/>
          <p:cNvSpPr/>
          <p:nvPr/>
        </p:nvSpPr>
        <p:spPr>
          <a:xfrm>
            <a:off x="1400175" y="3177880"/>
            <a:ext cx="4209486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Clean whitespace, remove special characters, standardize encoding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928688" y="3465054"/>
            <a:ext cx="7286625" cy="499700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9" name="Shape 22"/>
          <p:cNvSpPr/>
          <p:nvPr/>
        </p:nvSpPr>
        <p:spPr>
          <a:xfrm>
            <a:off x="928688" y="3465054"/>
            <a:ext cx="28575" cy="499700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0" name="Shape 23"/>
          <p:cNvSpPr/>
          <p:nvPr/>
        </p:nvSpPr>
        <p:spPr>
          <a:xfrm>
            <a:off x="1014413" y="3550779"/>
            <a:ext cx="300038" cy="300038"/>
          </a:xfrm>
          <a:prstGeom prst="rect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134" y="3629360"/>
            <a:ext cx="178594" cy="142875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00175" y="3550779"/>
            <a:ext cx="2931893" cy="1531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Step 5: Language Detection &amp; Chunking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3" name="Text 25"/>
          <p:cNvSpPr/>
          <p:nvPr/>
        </p:nvSpPr>
        <p:spPr>
          <a:xfrm>
            <a:off x="1400175" y="3749018"/>
            <a:ext cx="4901022" cy="13683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000"/>
              </a:lnSpc>
              <a:buNone/>
            </a:pPr>
            <a:r>
              <a:rPr lang="en-US" sz="1200" dirty="0">
                <a:solidFill>
                  <a:srgbClr val="E0E0E0"/>
                </a:solidFill>
              </a:rPr>
              <a:t>Detect language (Arabic, English, Egyptian dialect) → pass to recursive chunker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928688" y="4093341"/>
            <a:ext cx="7286625" cy="776883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35" name="Shape 27"/>
          <p:cNvSpPr/>
          <p:nvPr/>
        </p:nvSpPr>
        <p:spPr>
          <a:xfrm>
            <a:off x="928688" y="4093341"/>
            <a:ext cx="28575" cy="77688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6" name="Text 28"/>
          <p:cNvSpPr/>
          <p:nvPr/>
        </p:nvSpPr>
        <p:spPr>
          <a:xfrm>
            <a:off x="1014413" y="4179066"/>
            <a:ext cx="711517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6B35"/>
                </a:solidFill>
              </a:rPr>
              <a:t>Supported File Formats</a:t>
            </a:r>
            <a:endParaRPr lang="en-US" sz="784" dirty="0"/>
          </a:p>
        </p:txBody>
      </p:sp>
      <p:pic>
        <p:nvPicPr>
          <p:cNvPr id="37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38765" y="4423739"/>
            <a:ext cx="128588" cy="171450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1014413" y="4668413"/>
            <a:ext cx="1377293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PDF</a:t>
            </a:r>
            <a:endParaRPr lang="en-US" sz="584" dirty="0"/>
          </a:p>
        </p:txBody>
      </p:sp>
      <p:pic>
        <p:nvPicPr>
          <p:cNvPr id="3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73208" y="4423739"/>
            <a:ext cx="128588" cy="171450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2448855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DOCX</a:t>
            </a:r>
            <a:endParaRPr lang="en-US" sz="584" dirty="0"/>
          </a:p>
        </p:txBody>
      </p:sp>
      <p:pic>
        <p:nvPicPr>
          <p:cNvPr id="41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07678" y="4423739"/>
            <a:ext cx="128588" cy="171450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3883326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TXT</a:t>
            </a:r>
            <a:endParaRPr lang="en-US" sz="584" dirty="0"/>
          </a:p>
        </p:txBody>
      </p:sp>
      <p:pic>
        <p:nvPicPr>
          <p:cNvPr id="43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942149" y="4423739"/>
            <a:ext cx="128588" cy="171450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5317796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HTML</a:t>
            </a:r>
            <a:endParaRPr lang="en-US" sz="584" dirty="0"/>
          </a:p>
        </p:txBody>
      </p:sp>
      <p:pic>
        <p:nvPicPr>
          <p:cNvPr id="45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55188" y="4423739"/>
            <a:ext cx="171450" cy="171450"/>
          </a:xfrm>
          <a:prstGeom prst="rect">
            <a:avLst/>
          </a:prstGeom>
        </p:spPr>
      </p:pic>
      <p:sp>
        <p:nvSpPr>
          <p:cNvPr id="46" name="Text 33"/>
          <p:cNvSpPr/>
          <p:nvPr/>
        </p:nvSpPr>
        <p:spPr>
          <a:xfrm>
            <a:off x="6752267" y="4668413"/>
            <a:ext cx="1377321" cy="11608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584" b="1" dirty="0">
                <a:solidFill>
                  <a:srgbClr val="E0E0E0"/>
                </a:solidFill>
              </a:rPr>
              <a:t>Images (OCR)</a:t>
            </a:r>
            <a:endParaRPr lang="en-US" sz="584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1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1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1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1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4" grpId="0" animBg="1"/>
      <p:bldP spid="15" grpId="0" animBg="1"/>
      <p:bldP spid="20" grpId="0" animBg="1"/>
      <p:bldP spid="21" grpId="0" animBg="1"/>
      <p:bldP spid="26" grpId="0" animBg="1"/>
      <p:bldP spid="27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429880" y="428625"/>
            <a:ext cx="4284213" cy="46613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Multilingual Embeddings</a:t>
            </a:r>
            <a:endParaRPr lang="en-US" sz="2436" dirty="0"/>
          </a:p>
        </p:txBody>
      </p:sp>
      <p:sp>
        <p:nvSpPr>
          <p:cNvPr id="4" name="Text 1"/>
          <p:cNvSpPr/>
          <p:nvPr/>
        </p:nvSpPr>
        <p:spPr>
          <a:xfrm>
            <a:off x="1071563" y="1180505"/>
            <a:ext cx="3357563" cy="298672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Embedding Model</a:t>
            </a:r>
            <a:endParaRPr lang="en-US" dirty="0"/>
          </a:p>
        </p:txBody>
      </p:sp>
      <p:sp>
        <p:nvSpPr>
          <p:cNvPr id="5" name="Shape 2"/>
          <p:cNvSpPr/>
          <p:nvPr/>
        </p:nvSpPr>
        <p:spPr>
          <a:xfrm>
            <a:off x="1071563" y="1618059"/>
            <a:ext cx="3357563" cy="1849115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1071563" y="1618059"/>
            <a:ext cx="28575" cy="1849115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" name="Text 4"/>
          <p:cNvSpPr/>
          <p:nvPr/>
        </p:nvSpPr>
        <p:spPr>
          <a:xfrm>
            <a:off x="1214438" y="1760934"/>
            <a:ext cx="2184893" cy="16280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1400" b="1" dirty="0">
                <a:solidFill>
                  <a:srgbClr val="FF6B35"/>
                </a:solidFill>
              </a:rPr>
              <a:t>intfloat/multilingual-e5-large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214438" y="2021681"/>
            <a:ext cx="3071813" cy="18466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Multilingual embedding model with exceptional support for Arabic and dialectal variations.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>
              <a:solidFill>
                <a:srgbClr val="E0E0E0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1024-dimensional output vectors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Strong Arabic language support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E0E0E0"/>
                </a:solidFill>
              </a:rPr>
              <a:t>Optimized for semantic search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73126" y="4443016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14438" y="2801020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14438" y="2999259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14438" y="3197498"/>
            <a:ext cx="65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1617278" y="3598061"/>
            <a:ext cx="1625203" cy="582216"/>
          </a:xfrm>
          <a:prstGeom prst="rect">
            <a:avLst/>
          </a:prstGeom>
          <a:solidFill>
            <a:srgbClr val="FF6B35">
              <a:alpha val="10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1743153" y="3705218"/>
            <a:ext cx="1373453" cy="11759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800"/>
              </a:lnSpc>
              <a:buNone/>
            </a:pPr>
            <a:r>
              <a:rPr lang="en-US" sz="1200" b="1" dirty="0">
                <a:solidFill>
                  <a:srgbClr val="E0E0E0"/>
                </a:solidFill>
              </a:rPr>
              <a:t>Languages Supported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273586" y="3878454"/>
            <a:ext cx="312586" cy="1795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FF6B35"/>
                </a:solidFill>
              </a:rPr>
              <a:t>100+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14875" y="1180505"/>
            <a:ext cx="3357563" cy="298672"/>
          </a:xfrm>
          <a:prstGeom prst="rect">
            <a:avLst/>
          </a:prstGeom>
          <a:noFill/>
          <a:ln/>
        </p:spPr>
        <p:txBody>
          <a:bodyPr wrap="square" lIns="0" tIns="0" rIns="0" bIns="102108" rtlCol="0" anchor="t">
            <a:spAutoFit/>
          </a:bodyPr>
          <a:lstStyle/>
          <a:p>
            <a:pPr marL="0" indent="0" algn="l">
              <a:lnSpc>
                <a:spcPts val="1400"/>
              </a:lnSpc>
              <a:buNone/>
            </a:pPr>
            <a:r>
              <a:rPr lang="en-US" b="1" dirty="0">
                <a:solidFill>
                  <a:srgbClr val="FFFFFF"/>
                </a:solidFill>
              </a:rPr>
              <a:t>Processing Pipeline</a:t>
            </a:r>
            <a:endParaRPr lang="en-US" dirty="0"/>
          </a:p>
        </p:txBody>
      </p:sp>
      <p:sp>
        <p:nvSpPr>
          <p:cNvPr id="21" name="Shape 18"/>
          <p:cNvSpPr/>
          <p:nvPr/>
        </p:nvSpPr>
        <p:spPr>
          <a:xfrm>
            <a:off x="4714875" y="1618059"/>
            <a:ext cx="3357563" cy="650081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4714875" y="1618059"/>
            <a:ext cx="28575" cy="650081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3" name="Shape 20"/>
          <p:cNvSpPr/>
          <p:nvPr/>
        </p:nvSpPr>
        <p:spPr>
          <a:xfrm>
            <a:off x="4829175" y="1732359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7756" y="1810941"/>
            <a:ext cx="128588" cy="128588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235323" y="1834554"/>
            <a:ext cx="1248932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Batch Processing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27" name="Shape 23"/>
          <p:cNvSpPr/>
          <p:nvPr/>
        </p:nvSpPr>
        <p:spPr>
          <a:xfrm>
            <a:off x="4714875" y="237529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4714875" y="237529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29" name="Shape 25"/>
          <p:cNvSpPr/>
          <p:nvPr/>
        </p:nvSpPr>
        <p:spPr>
          <a:xfrm>
            <a:off x="4829175" y="248959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07756" y="2568178"/>
            <a:ext cx="128588" cy="12858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235323" y="2591792"/>
            <a:ext cx="1297599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GPU Acceleration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3" name="Shape 28"/>
          <p:cNvSpPr/>
          <p:nvPr/>
        </p:nvSpPr>
        <p:spPr>
          <a:xfrm>
            <a:off x="4714875" y="300394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34" name="Shape 29"/>
          <p:cNvSpPr/>
          <p:nvPr/>
        </p:nvSpPr>
        <p:spPr>
          <a:xfrm>
            <a:off x="4714875" y="300394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35" name="Shape 30"/>
          <p:cNvSpPr/>
          <p:nvPr/>
        </p:nvSpPr>
        <p:spPr>
          <a:xfrm>
            <a:off x="4829175" y="311824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sp>
        <p:nvSpPr>
          <p:cNvPr id="36" name="Text 31"/>
          <p:cNvSpPr/>
          <p:nvPr/>
        </p:nvSpPr>
        <p:spPr>
          <a:xfrm>
            <a:off x="5235323" y="3220442"/>
            <a:ext cx="1596591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Vector Normalization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38" name="Shape 33"/>
          <p:cNvSpPr/>
          <p:nvPr/>
        </p:nvSpPr>
        <p:spPr>
          <a:xfrm>
            <a:off x="4714875" y="3632597"/>
            <a:ext cx="3357563" cy="52149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39" name="Shape 34"/>
          <p:cNvSpPr/>
          <p:nvPr/>
        </p:nvSpPr>
        <p:spPr>
          <a:xfrm>
            <a:off x="4714875" y="3632597"/>
            <a:ext cx="28575" cy="521494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40" name="Shape 35"/>
          <p:cNvSpPr/>
          <p:nvPr/>
        </p:nvSpPr>
        <p:spPr>
          <a:xfrm>
            <a:off x="4829175" y="3746897"/>
            <a:ext cx="285750" cy="285750"/>
          </a:xfrm>
          <a:prstGeom prst="ellipse">
            <a:avLst/>
          </a:prstGeom>
          <a:solidFill>
            <a:srgbClr val="FF6B35">
              <a:alpha val="20000"/>
            </a:srgbClr>
          </a:solidFill>
          <a:ln/>
        </p:spPr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5793" y="3825478"/>
            <a:ext cx="112514" cy="12858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5323" y="3849092"/>
            <a:ext cx="1342419" cy="1339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Persistent Storage</a:t>
            </a:r>
            <a:endParaRPr lang="en-US" sz="14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184997" y="428625"/>
            <a:ext cx="6774005" cy="4982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Setup Pipeline: Crawl → Index → Upsert</a:t>
            </a:r>
            <a:endParaRPr lang="en-US" sz="2436" dirty="0"/>
          </a:p>
        </p:txBody>
      </p:sp>
      <p:sp>
        <p:nvSpPr>
          <p:cNvPr id="4" name="Shape 1"/>
          <p:cNvSpPr/>
          <p:nvPr/>
        </p:nvSpPr>
        <p:spPr>
          <a:xfrm>
            <a:off x="928688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28688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3488" y="2408878"/>
            <a:ext cx="257175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64050" y="2748206"/>
            <a:ext cx="896079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Web Crawling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2152641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1" name="Shape 7"/>
          <p:cNvSpPr/>
          <p:nvPr/>
        </p:nvSpPr>
        <p:spPr>
          <a:xfrm>
            <a:off x="2152641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0303" y="2408878"/>
            <a:ext cx="17145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268094" y="2748206"/>
            <a:ext cx="935897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File Processing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3376594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17" name="Shape 12"/>
          <p:cNvSpPr/>
          <p:nvPr/>
        </p:nvSpPr>
        <p:spPr>
          <a:xfrm>
            <a:off x="3376594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17107" y="2408878"/>
            <a:ext cx="285750" cy="2286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3506410" y="2748206"/>
            <a:ext cx="907171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Normalization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600547" y="2249930"/>
            <a:ext cx="1166803" cy="1025463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69635" y="2408878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714847" y="2748206"/>
            <a:ext cx="938203" cy="2493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Recursive Chunking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5824500" y="2249930"/>
            <a:ext cx="1166803" cy="103727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93588" y="2408878"/>
            <a:ext cx="228600" cy="2286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5818927" y="2748206"/>
            <a:ext cx="1177950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Batch Embeddings</a:t>
            </a:r>
            <a:endParaRPr lang="en-US" sz="1200" dirty="0"/>
          </a:p>
        </p:txBody>
      </p:sp>
      <p:sp>
        <p:nvSpPr>
          <p:cNvPr id="34" name="Shape 26"/>
          <p:cNvSpPr/>
          <p:nvPr/>
        </p:nvSpPr>
        <p:spPr>
          <a:xfrm>
            <a:off x="7048453" y="2249930"/>
            <a:ext cx="1166803" cy="103727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31829" y="2408878"/>
            <a:ext cx="200025" cy="228600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174581" y="2748206"/>
            <a:ext cx="914546" cy="12721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Qdrant Upsert</a:t>
            </a:r>
            <a:endParaRPr lang="en-US" sz="1200" dirty="0"/>
          </a:p>
        </p:txBody>
      </p:sp>
      <p:sp>
        <p:nvSpPr>
          <p:cNvPr id="76" name="Shape 12">
            <a:extLst>
              <a:ext uri="{FF2B5EF4-FFF2-40B4-BE49-F238E27FC236}">
                <a16:creationId xmlns:a16="http://schemas.microsoft.com/office/drawing/2014/main" id="{13763131-8558-2F80-D4BC-775493DE3D91}"/>
              </a:ext>
            </a:extLst>
          </p:cNvPr>
          <p:cNvSpPr/>
          <p:nvPr/>
        </p:nvSpPr>
        <p:spPr>
          <a:xfrm>
            <a:off x="4586232" y="2261745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7" name="Shape 12">
            <a:extLst>
              <a:ext uri="{FF2B5EF4-FFF2-40B4-BE49-F238E27FC236}">
                <a16:creationId xmlns:a16="http://schemas.microsoft.com/office/drawing/2014/main" id="{3EB04637-13A4-B84B-5EDF-D5939747217C}"/>
              </a:ext>
            </a:extLst>
          </p:cNvPr>
          <p:cNvSpPr/>
          <p:nvPr/>
        </p:nvSpPr>
        <p:spPr>
          <a:xfrm>
            <a:off x="5810185" y="2249930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  <p:sp>
        <p:nvSpPr>
          <p:cNvPr id="78" name="Shape 12">
            <a:extLst>
              <a:ext uri="{FF2B5EF4-FFF2-40B4-BE49-F238E27FC236}">
                <a16:creationId xmlns:a16="http://schemas.microsoft.com/office/drawing/2014/main" id="{D195CF13-9ECC-DEA5-B8A4-BF19E0B7C7B7}"/>
              </a:ext>
            </a:extLst>
          </p:cNvPr>
          <p:cNvSpPr/>
          <p:nvPr/>
        </p:nvSpPr>
        <p:spPr>
          <a:xfrm>
            <a:off x="7028591" y="2250148"/>
            <a:ext cx="28575" cy="1025463"/>
          </a:xfrm>
          <a:prstGeom prst="rect">
            <a:avLst/>
          </a:prstGeom>
          <a:solidFill>
            <a:srgbClr val="FF6B35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3875496" y="428625"/>
            <a:ext cx="1393009" cy="39023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3200"/>
              </a:lnSpc>
              <a:buNone/>
            </a:pPr>
            <a:r>
              <a:rPr lang="en-US" sz="2436" b="1" dirty="0">
                <a:solidFill>
                  <a:srgbClr val="FF6B35"/>
                </a:solidFill>
              </a:rPr>
              <a:t>Next Steps</a:t>
            </a:r>
            <a:endParaRPr lang="en-US" sz="2436" dirty="0"/>
          </a:p>
        </p:txBody>
      </p:sp>
      <p:sp>
        <p:nvSpPr>
          <p:cNvPr id="49" name="Shape 34"/>
          <p:cNvSpPr/>
          <p:nvPr/>
        </p:nvSpPr>
        <p:spPr>
          <a:xfrm>
            <a:off x="1762125" y="1111770"/>
            <a:ext cx="2130258" cy="1464098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0" name="Shape 35"/>
          <p:cNvSpPr/>
          <p:nvPr/>
        </p:nvSpPr>
        <p:spPr>
          <a:xfrm>
            <a:off x="1762125" y="1111770"/>
            <a:ext cx="52752" cy="1464098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51" name="Image 1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7850" y="1229643"/>
            <a:ext cx="322380" cy="246856"/>
          </a:xfrm>
          <a:prstGeom prst="rect">
            <a:avLst/>
          </a:prstGeom>
        </p:spPr>
      </p:pic>
      <p:sp>
        <p:nvSpPr>
          <p:cNvPr id="52" name="Text 36"/>
          <p:cNvSpPr/>
          <p:nvPr/>
        </p:nvSpPr>
        <p:spPr>
          <a:xfrm>
            <a:off x="1847849" y="1488604"/>
            <a:ext cx="1669255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Model Fine-Tuning</a:t>
            </a:r>
            <a:endParaRPr lang="en-US" sz="1200" dirty="0"/>
          </a:p>
        </p:txBody>
      </p:sp>
      <p:sp>
        <p:nvSpPr>
          <p:cNvPr id="53" name="Text 37"/>
          <p:cNvSpPr/>
          <p:nvPr/>
        </p:nvSpPr>
        <p:spPr>
          <a:xfrm>
            <a:off x="1847849" y="1667197"/>
            <a:ext cx="1891599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Train custom Telecom Egypt models for improved accuracy</a:t>
            </a:r>
            <a:endParaRPr lang="en-US" sz="1200" dirty="0"/>
          </a:p>
        </p:txBody>
      </p:sp>
      <p:sp>
        <p:nvSpPr>
          <p:cNvPr id="54" name="Shape 38"/>
          <p:cNvSpPr/>
          <p:nvPr/>
        </p:nvSpPr>
        <p:spPr>
          <a:xfrm>
            <a:off x="3875496" y="1120096"/>
            <a:ext cx="2130258" cy="145165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55" name="Shape 39"/>
          <p:cNvSpPr/>
          <p:nvPr/>
        </p:nvSpPr>
        <p:spPr>
          <a:xfrm>
            <a:off x="3875496" y="1120096"/>
            <a:ext cx="52752" cy="1451654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5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1220" y="1237968"/>
            <a:ext cx="257903" cy="244757"/>
          </a:xfrm>
          <a:prstGeom prst="rect">
            <a:avLst/>
          </a:prstGeom>
        </p:spPr>
      </p:pic>
      <p:sp>
        <p:nvSpPr>
          <p:cNvPr id="57" name="Text 40"/>
          <p:cNvSpPr/>
          <p:nvPr/>
        </p:nvSpPr>
        <p:spPr>
          <a:xfrm>
            <a:off x="3961220" y="1496930"/>
            <a:ext cx="1891599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Multi-Regional Deployment</a:t>
            </a:r>
            <a:endParaRPr lang="en-US" sz="1200" dirty="0"/>
          </a:p>
        </p:txBody>
      </p:sp>
      <p:sp>
        <p:nvSpPr>
          <p:cNvPr id="58" name="Text 41"/>
          <p:cNvSpPr/>
          <p:nvPr/>
        </p:nvSpPr>
        <p:spPr>
          <a:xfrm>
            <a:off x="3961220" y="1811255"/>
            <a:ext cx="1891599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Expand to other operators</a:t>
            </a:r>
            <a:endParaRPr lang="en-US" sz="1200" dirty="0"/>
          </a:p>
        </p:txBody>
      </p:sp>
      <p:sp>
        <p:nvSpPr>
          <p:cNvPr id="59" name="Shape 42"/>
          <p:cNvSpPr/>
          <p:nvPr/>
        </p:nvSpPr>
        <p:spPr>
          <a:xfrm>
            <a:off x="5954875" y="1120096"/>
            <a:ext cx="2130258" cy="1451654"/>
          </a:xfrm>
          <a:prstGeom prst="rect">
            <a:avLst/>
          </a:prstGeom>
          <a:solidFill>
            <a:srgbClr val="FF6B35">
              <a:alpha val="8000"/>
            </a:srgbClr>
          </a:solidFill>
          <a:ln/>
        </p:spPr>
      </p:sp>
      <p:sp>
        <p:nvSpPr>
          <p:cNvPr id="60" name="Shape 43"/>
          <p:cNvSpPr/>
          <p:nvPr/>
        </p:nvSpPr>
        <p:spPr>
          <a:xfrm>
            <a:off x="5954875" y="1120096"/>
            <a:ext cx="52752" cy="1451654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6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0600" y="1237967"/>
            <a:ext cx="323070" cy="244757"/>
          </a:xfrm>
          <a:prstGeom prst="rect">
            <a:avLst/>
          </a:prstGeom>
        </p:spPr>
      </p:pic>
      <p:sp>
        <p:nvSpPr>
          <p:cNvPr id="62" name="Text 44"/>
          <p:cNvSpPr/>
          <p:nvPr/>
        </p:nvSpPr>
        <p:spPr>
          <a:xfrm>
            <a:off x="6040599" y="1496928"/>
            <a:ext cx="1814475" cy="127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Autonomous Agents</a:t>
            </a:r>
            <a:endParaRPr lang="en-US" sz="1200" dirty="0"/>
          </a:p>
        </p:txBody>
      </p:sp>
      <p:sp>
        <p:nvSpPr>
          <p:cNvPr id="63" name="Text 45"/>
          <p:cNvSpPr/>
          <p:nvPr/>
        </p:nvSpPr>
        <p:spPr>
          <a:xfrm>
            <a:off x="6040599" y="1675522"/>
            <a:ext cx="2031346" cy="5539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E0E0E0"/>
                </a:solidFill>
              </a:rPr>
              <a:t>Enable actions (bill payments, service changes) with authentication </a:t>
            </a:r>
            <a:endParaRPr lang="en-US" sz="1200" dirty="0"/>
          </a:p>
        </p:txBody>
      </p:sp>
      <p:pic>
        <p:nvPicPr>
          <p:cNvPr id="4" name="Image 5" descr="preencoded.png">
            <a:extLst>
              <a:ext uri="{FF2B5EF4-FFF2-40B4-BE49-F238E27FC236}">
                <a16:creationId xmlns:a16="http://schemas.microsoft.com/office/drawing/2014/main" id="{86385735-72FB-7E59-76EA-FB34FDE01E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5074" y="2179568"/>
            <a:ext cx="3214688" cy="32146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813" y="539353"/>
            <a:ext cx="714375" cy="5715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163453" y="1350169"/>
            <a:ext cx="2817093" cy="7000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4900"/>
              </a:lnSpc>
              <a:buNone/>
            </a:pPr>
            <a:r>
              <a:rPr lang="en-US" sz="3731" b="1" kern="0" spc="2" dirty="0">
                <a:solidFill>
                  <a:srgbClr val="FF6B35"/>
                </a:solidFill>
              </a:rPr>
              <a:t>Thank You</a:t>
            </a:r>
            <a:endParaRPr lang="en-US" sz="3731" dirty="0"/>
          </a:p>
        </p:txBody>
      </p:sp>
      <p:sp>
        <p:nvSpPr>
          <p:cNvPr id="6" name="Text 2"/>
          <p:cNvSpPr/>
          <p:nvPr/>
        </p:nvSpPr>
        <p:spPr>
          <a:xfrm>
            <a:off x="3078956" y="2884624"/>
            <a:ext cx="2986088" cy="3500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FFFFFF"/>
                </a:solidFill>
              </a:rPr>
              <a:t>Questions &amp; Discussion</a:t>
            </a:r>
            <a:endParaRPr lang="en-US" sz="1808" dirty="0"/>
          </a:p>
        </p:txBody>
      </p:sp>
      <p:sp>
        <p:nvSpPr>
          <p:cNvPr id="7" name="Text 3"/>
          <p:cNvSpPr/>
          <p:nvPr/>
        </p:nvSpPr>
        <p:spPr>
          <a:xfrm>
            <a:off x="2071688" y="3320393"/>
            <a:ext cx="5000625" cy="41143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942" dirty="0">
                <a:solidFill>
                  <a:srgbClr val="B0B0B0"/>
                </a:solidFill>
              </a:rPr>
              <a:t>We welcome your questions, feedback, and ideas for improvement. Let's discuss how this RAG system can transform customer support at Telecom Egypt.</a:t>
            </a:r>
            <a:endParaRPr lang="en-US" sz="942" dirty="0"/>
          </a:p>
        </p:txBody>
      </p:sp>
      <p:sp>
        <p:nvSpPr>
          <p:cNvPr id="8" name="Shape 4"/>
          <p:cNvSpPr/>
          <p:nvPr/>
        </p:nvSpPr>
        <p:spPr>
          <a:xfrm>
            <a:off x="2109778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9" name="Shape 5"/>
          <p:cNvSpPr/>
          <p:nvPr/>
        </p:nvSpPr>
        <p:spPr>
          <a:xfrm>
            <a:off x="2109778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4078" y="4074728"/>
            <a:ext cx="200025" cy="200025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148846" y="4446203"/>
            <a:ext cx="350462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Email</a:t>
            </a:r>
            <a:endParaRPr lang="en-US" sz="683" dirty="0"/>
          </a:p>
        </p:txBody>
      </p:sp>
      <p:sp>
        <p:nvSpPr>
          <p:cNvPr id="12" name="Text 7"/>
          <p:cNvSpPr/>
          <p:nvPr/>
        </p:nvSpPr>
        <p:spPr>
          <a:xfrm>
            <a:off x="1458456" y="4639084"/>
            <a:ext cx="1731243" cy="13388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800" u="sng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6"/>
              </a:rPr>
              <a:t>mohamedsaidabusamaha@gmail.com</a:t>
            </a:r>
            <a:endParaRPr lang="en-US" sz="674" dirty="0"/>
          </a:p>
        </p:txBody>
      </p:sp>
      <p:sp>
        <p:nvSpPr>
          <p:cNvPr id="13" name="Shape 8"/>
          <p:cNvSpPr/>
          <p:nvPr/>
        </p:nvSpPr>
        <p:spPr>
          <a:xfrm>
            <a:off x="4357660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14" name="Shape 9"/>
          <p:cNvSpPr/>
          <p:nvPr/>
        </p:nvSpPr>
        <p:spPr>
          <a:xfrm>
            <a:off x="4357660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84461" y="4074728"/>
            <a:ext cx="175022" cy="20002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077937" y="4446203"/>
            <a:ext cx="988098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Documentation</a:t>
            </a:r>
            <a:endParaRPr lang="en-US" sz="683" dirty="0"/>
          </a:p>
        </p:txBody>
      </p:sp>
      <p:sp>
        <p:nvSpPr>
          <p:cNvPr id="17" name="Text 11">
            <a:hlinkClick r:id="rId8"/>
          </p:cNvPr>
          <p:cNvSpPr/>
          <p:nvPr/>
        </p:nvSpPr>
        <p:spPr>
          <a:xfrm>
            <a:off x="3353704" y="4639084"/>
            <a:ext cx="3051669" cy="1345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sz="800" u="sng" kern="100" dirty="0">
                <a:solidFill>
                  <a:srgbClr val="467886"/>
                </a:solidFill>
                <a:effectLst/>
                <a:latin typeface="Aptos" panose="020B0004020202020204" pitchFamily="34" charset="0"/>
                <a:ea typeface="Aptos" panose="020B0004020202020204" pitchFamily="34" charset="0"/>
                <a:cs typeface="Arial" panose="020B0604020202020204" pitchFamily="34" charset="0"/>
                <a:hlinkClick r:id="rId8"/>
              </a:rPr>
              <a:t>https://github.com/MohamedSaeed130/Telecom-Egypt-mini-chatbot</a:t>
            </a:r>
            <a:endParaRPr lang="en-US" sz="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605569" y="3960428"/>
            <a:ext cx="428625" cy="428625"/>
          </a:xfrm>
          <a:prstGeom prst="rect">
            <a:avLst/>
          </a:prstGeom>
          <a:solidFill>
            <a:srgbClr val="FF6B35">
              <a:alpha val="15000"/>
            </a:srgbClr>
          </a:solidFill>
          <a:ln/>
        </p:spPr>
      </p:sp>
      <p:sp>
        <p:nvSpPr>
          <p:cNvPr id="19" name="Shape 13"/>
          <p:cNvSpPr/>
          <p:nvPr/>
        </p:nvSpPr>
        <p:spPr>
          <a:xfrm>
            <a:off x="6605569" y="3960428"/>
            <a:ext cx="28575" cy="428625"/>
          </a:xfrm>
          <a:prstGeom prst="rect">
            <a:avLst/>
          </a:prstGeom>
          <a:solidFill>
            <a:srgbClr val="FF6B35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9869" y="4074728"/>
            <a:ext cx="200025" cy="200025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514542" y="4446203"/>
            <a:ext cx="610679" cy="13573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683" b="1" kern="0" spc="1" dirty="0">
                <a:solidFill>
                  <a:srgbClr val="FF6B35"/>
                </a:solidFill>
              </a:rPr>
              <a:t>Live Demo</a:t>
            </a:r>
            <a:endParaRPr lang="en-US" sz="683" dirty="0"/>
          </a:p>
        </p:txBody>
      </p:sp>
      <p:sp>
        <p:nvSpPr>
          <p:cNvPr id="22" name="Text 15"/>
          <p:cNvSpPr/>
          <p:nvPr/>
        </p:nvSpPr>
        <p:spPr>
          <a:xfrm>
            <a:off x="6317084" y="4639084"/>
            <a:ext cx="1005594" cy="13930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ctr">
              <a:lnSpc>
                <a:spcPts val="1100"/>
              </a:lnSpc>
              <a:buNone/>
            </a:pPr>
            <a:r>
              <a:rPr lang="en-US" sz="674" dirty="0">
                <a:solidFill>
                  <a:srgbClr val="E0E0E0"/>
                </a:solidFill>
              </a:rPr>
              <a:t>demo.telecom-egypt.ai</a:t>
            </a:r>
            <a:endParaRPr lang="en-US" sz="674" dirty="0"/>
          </a:p>
        </p:txBody>
      </p:sp>
      <p:sp>
        <p:nvSpPr>
          <p:cNvPr id="23" name="Text 16"/>
          <p:cNvSpPr/>
          <p:nvPr/>
        </p:nvSpPr>
        <p:spPr>
          <a:xfrm>
            <a:off x="1714500" y="4992700"/>
            <a:ext cx="5715000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ctr">
              <a:lnSpc>
                <a:spcPts val="1300"/>
              </a:lnSpc>
              <a:buNone/>
            </a:pPr>
            <a:r>
              <a:rPr lang="en-US" sz="727" i="1" dirty="0">
                <a:solidFill>
                  <a:srgbClr val="999999"/>
                </a:solidFill>
              </a:rPr>
              <a:t>The complete source code, documentation, and deployment guides are available in the project repository. Thank you for considering this solution!</a:t>
            </a:r>
            <a:endParaRPr lang="en-US" sz="7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454</Words>
  <Application>Microsoft Office PowerPoint</Application>
  <PresentationFormat>On-screen Show (16:9)</PresentationFormat>
  <Paragraphs>93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Abu Samaha</cp:lastModifiedBy>
  <cp:revision>3</cp:revision>
  <dcterms:created xsi:type="dcterms:W3CDTF">2026-01-08T09:38:02Z</dcterms:created>
  <dcterms:modified xsi:type="dcterms:W3CDTF">2026-01-08T12:32:26Z</dcterms:modified>
</cp:coreProperties>
</file>